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roxima Nova"/>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spTree>
      <p:nvGrpSpPr>
        <p:cNvPr id="9" name="Shape 9"/>
        <p:cNvGrpSpPr/>
        <p:nvPr/>
      </p:nvGrpSpPr>
      <p:grpSpPr>
        <a:xfrm>
          <a:off x="0" y="0"/>
          <a:ext cx="0" cy="0"/>
          <a:chOff x="0" y="0"/>
          <a:chExt cx="0" cy="0"/>
        </a:xfrm>
      </p:grpSpPr>
      <p:sp>
        <p:nvSpPr>
          <p:cNvPr id="10" name="Google Shape;10;p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2"/>
          <p:cNvSpPr txBox="1"/>
          <p:nvPr>
            <p:ph idx="1" type="body"/>
          </p:nvPr>
        </p:nvSpPr>
        <p:spPr>
          <a:xfrm>
            <a:off x="311700" y="6952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7" name="Google Shape;17;p3"/>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cxnSp>
        <p:nvCxnSpPr>
          <p:cNvPr id="19" name="Google Shape;19;p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20" name="Google Shape;20;p4"/>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5"/>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5"/>
          <p:cNvSpPr txBox="1"/>
          <p:nvPr>
            <p:ph idx="2" type="subTitle"/>
          </p:nvPr>
        </p:nvSpPr>
        <p:spPr>
          <a:xfrm>
            <a:off x="387975" y="789025"/>
            <a:ext cx="8520600" cy="8331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500"/>
              <a:buNone/>
              <a:defRPr sz="15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
          <p:cNvSpPr txBox="1"/>
          <p:nvPr>
            <p:ph idx="1" type="body"/>
          </p:nvPr>
        </p:nvSpPr>
        <p:spPr>
          <a:xfrm>
            <a:off x="311700" y="13810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6"/>
          <p:cNvSpPr txBox="1"/>
          <p:nvPr>
            <p:ph idx="3" type="subTitle"/>
          </p:nvPr>
        </p:nvSpPr>
        <p:spPr>
          <a:xfrm>
            <a:off x="386975" y="8640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34" name="Google Shape;34;p6"/>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9"/>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cap="flat" cmpd="sng" w="19050">
            <a:solidFill>
              <a:schemeClr val="dk1"/>
            </a:solidFill>
            <a:prstDash val="solid"/>
            <a:round/>
            <a:headEnd len="sm" w="sm" type="none"/>
            <a:tailEnd len="sm" w="sm" type="none"/>
          </a:ln>
        </p:spPr>
      </p:cxnSp>
      <p:sp>
        <p:nvSpPr>
          <p:cNvPr id="47" name="Google Shape;4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1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10"/>
          <p:cNvSpPr txBox="1"/>
          <p:nvPr>
            <p:ph idx="1" type="body"/>
          </p:nvPr>
        </p:nvSpPr>
        <p:spPr>
          <a:xfrm>
            <a:off x="3117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10"/>
          <p:cNvSpPr txBox="1"/>
          <p:nvPr>
            <p:ph idx="2" type="body"/>
          </p:nvPr>
        </p:nvSpPr>
        <p:spPr>
          <a:xfrm>
            <a:off x="4832400" y="13048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10"/>
          <p:cNvSpPr txBox="1"/>
          <p:nvPr>
            <p:ph idx="3" type="subTitle"/>
          </p:nvPr>
        </p:nvSpPr>
        <p:spPr>
          <a:xfrm>
            <a:off x="386975" y="787800"/>
            <a:ext cx="8368200" cy="84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52" name="Google Shape;52;p10"/>
          <p:cNvSpPr txBox="1"/>
          <p:nvPr>
            <p:ph idx="4" type="body"/>
          </p:nvPr>
        </p:nvSpPr>
        <p:spPr>
          <a:xfrm>
            <a:off x="4813725" y="3822525"/>
            <a:ext cx="3999900" cy="208200"/>
          </a:xfrm>
          <a:prstGeom prst="rect">
            <a:avLst/>
          </a:prstGeom>
          <a:noFill/>
          <a:ln>
            <a:noFill/>
          </a:ln>
        </p:spPr>
        <p:txBody>
          <a:bodyPr anchorCtr="0" anchor="t" bIns="91425" lIns="91425" spcFirstLastPara="1" rIns="91425" wrap="square" tIns="91425">
            <a:normAutofit/>
          </a:bodyPr>
          <a:lstStyle>
            <a:lvl1pPr indent="-273050" lvl="0" marL="457200" algn="r">
              <a:lnSpc>
                <a:spcPct val="115000"/>
              </a:lnSpc>
              <a:spcBef>
                <a:spcPts val="0"/>
              </a:spcBef>
              <a:spcAft>
                <a:spcPts val="0"/>
              </a:spcAft>
              <a:buSzPts val="700"/>
              <a:buChar char="●"/>
              <a:defRPr sz="700"/>
            </a:lvl1pPr>
            <a:lvl2pPr indent="-260350" lvl="1" marL="914400" algn="r">
              <a:lnSpc>
                <a:spcPct val="115000"/>
              </a:lnSpc>
              <a:spcBef>
                <a:spcPts val="0"/>
              </a:spcBef>
              <a:spcAft>
                <a:spcPts val="0"/>
              </a:spcAft>
              <a:buSzPts val="500"/>
              <a:buChar char="○"/>
              <a:defRPr sz="500"/>
            </a:lvl2pPr>
            <a:lvl3pPr indent="-260350" lvl="2" marL="1371600" algn="r">
              <a:lnSpc>
                <a:spcPct val="115000"/>
              </a:lnSpc>
              <a:spcBef>
                <a:spcPts val="0"/>
              </a:spcBef>
              <a:spcAft>
                <a:spcPts val="0"/>
              </a:spcAft>
              <a:buSzPts val="500"/>
              <a:buChar char="■"/>
              <a:defRPr sz="500"/>
            </a:lvl3pPr>
            <a:lvl4pPr indent="-260350" lvl="3" marL="1828800" algn="r">
              <a:lnSpc>
                <a:spcPct val="115000"/>
              </a:lnSpc>
              <a:spcBef>
                <a:spcPts val="0"/>
              </a:spcBef>
              <a:spcAft>
                <a:spcPts val="0"/>
              </a:spcAft>
              <a:buSzPts val="500"/>
              <a:buChar char="●"/>
              <a:defRPr sz="500"/>
            </a:lvl4pPr>
            <a:lvl5pPr indent="-260350" lvl="4" marL="2286000" algn="r">
              <a:lnSpc>
                <a:spcPct val="115000"/>
              </a:lnSpc>
              <a:spcBef>
                <a:spcPts val="0"/>
              </a:spcBef>
              <a:spcAft>
                <a:spcPts val="0"/>
              </a:spcAft>
              <a:buSzPts val="500"/>
              <a:buChar char="○"/>
              <a:defRPr sz="500"/>
            </a:lvl5pPr>
            <a:lvl6pPr indent="-260350" lvl="5" marL="2743200" algn="r">
              <a:lnSpc>
                <a:spcPct val="115000"/>
              </a:lnSpc>
              <a:spcBef>
                <a:spcPts val="0"/>
              </a:spcBef>
              <a:spcAft>
                <a:spcPts val="0"/>
              </a:spcAft>
              <a:buSzPts val="500"/>
              <a:buChar char="■"/>
              <a:defRPr sz="500"/>
            </a:lvl6pPr>
            <a:lvl7pPr indent="-260350" lvl="6" marL="3200400" algn="r">
              <a:lnSpc>
                <a:spcPct val="115000"/>
              </a:lnSpc>
              <a:spcBef>
                <a:spcPts val="0"/>
              </a:spcBef>
              <a:spcAft>
                <a:spcPts val="0"/>
              </a:spcAft>
              <a:buSzPts val="500"/>
              <a:buChar char="●"/>
              <a:defRPr sz="500"/>
            </a:lvl7pPr>
            <a:lvl8pPr indent="-260350" lvl="7" marL="3657600" algn="r">
              <a:lnSpc>
                <a:spcPct val="115000"/>
              </a:lnSpc>
              <a:spcBef>
                <a:spcPts val="0"/>
              </a:spcBef>
              <a:spcAft>
                <a:spcPts val="0"/>
              </a:spcAft>
              <a:buSzPts val="500"/>
              <a:buChar char="○"/>
              <a:defRPr sz="500"/>
            </a:lvl8pPr>
            <a:lvl9pPr indent="-260350" lvl="8" marL="4114800" algn="r">
              <a:lnSpc>
                <a:spcPct val="115000"/>
              </a:lnSpc>
              <a:spcBef>
                <a:spcPts val="0"/>
              </a:spcBef>
              <a:spcAft>
                <a:spcPts val="0"/>
              </a:spcAft>
              <a:buSzPts val="500"/>
              <a:buChar char="■"/>
              <a:defRPr sz="500"/>
            </a:lvl9pPr>
          </a:lstStyle>
          <a:p/>
        </p:txBody>
      </p:sp>
      <p:sp>
        <p:nvSpPr>
          <p:cNvPr id="53" name="Google Shape;53;p10"/>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4"/>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1"/>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56" name="Google Shape;5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60" name="Google Shape;60;p12"/>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1" name="Google Shape;6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 name="Google Shape;69;p1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70" name="Google Shape;70;p14"/>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 name="Google Shape;71;p14"/>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14"/>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 name="Google Shape;73;p14"/>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 name="Google Shape;74;p14"/>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pic>
        <p:nvPicPr>
          <p:cNvPr descr="Introduction to matplotlib : Types of Plots, Key features - 360DigiTMG" id="75" name="Google Shape;75;p14"/>
          <p:cNvPicPr preferRelativeResize="0"/>
          <p:nvPr/>
        </p:nvPicPr>
        <p:blipFill>
          <a:blip r:embed="rId3">
            <a:alphaModFix/>
          </a:blip>
          <a:stretch>
            <a:fillRect/>
          </a:stretch>
        </p:blipFill>
        <p:spPr>
          <a:xfrm>
            <a:off x="152400" y="152400"/>
            <a:ext cx="8808650" cy="4608176"/>
          </a:xfrm>
          <a:prstGeom prst="rect">
            <a:avLst/>
          </a:prstGeom>
          <a:noFill/>
          <a:ln>
            <a:noFill/>
          </a:ln>
        </p:spPr>
      </p:pic>
      <p:pic>
        <p:nvPicPr>
          <p:cNvPr descr="Python Matplotlib Crash Course" id="76" name="Google Shape;76;p14"/>
          <p:cNvPicPr preferRelativeResize="0"/>
          <p:nvPr/>
        </p:nvPicPr>
        <p:blipFill>
          <a:blip r:embed="rId4">
            <a:alphaModFix/>
          </a:blip>
          <a:stretch>
            <a:fillRect/>
          </a:stretch>
        </p:blipFill>
        <p:spPr>
          <a:xfrm>
            <a:off x="152400" y="152400"/>
            <a:ext cx="8808650" cy="49567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Introduction to Data Visualization</a:t>
            </a:r>
            <a:endParaRPr/>
          </a:p>
        </p:txBody>
      </p:sp>
      <p:sp>
        <p:nvSpPr>
          <p:cNvPr id="82" name="Google Shape;82;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 name="Google Shape;83;p1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84" name="Google Shape;84;p15"/>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5"/>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 name="Google Shape;86;p15"/>
          <p:cNvSpPr txBox="1"/>
          <p:nvPr/>
        </p:nvSpPr>
        <p:spPr>
          <a:xfrm>
            <a:off x="228600" y="1508670"/>
            <a:ext cx="4190999" cy="3169146"/>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Definition and Importance:</a:t>
            </a:r>
            <a:r>
              <a:rPr b="0" i="0" lang="en-US" sz="1300" u="none" cap="none" strike="noStrike">
                <a:solidFill>
                  <a:srgbClr val="616161"/>
                </a:solidFill>
                <a:latin typeface="Proxima Nova"/>
                <a:ea typeface="Proxima Nova"/>
                <a:cs typeface="Proxima Nova"/>
                <a:sym typeface="Proxima Nova"/>
              </a:rPr>
              <a:t> Data visualization is the graphical representation of information and data. It uses visual elements like charts, graphs, and maps to provide an accessible way to see and understand trends, outliers, and patterns in data.</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Key Objectives:</a:t>
            </a:r>
            <a:r>
              <a:rPr b="0" i="0" lang="en-US" sz="1300" u="none" cap="none" strike="noStrike">
                <a:solidFill>
                  <a:srgbClr val="616161"/>
                </a:solidFill>
                <a:latin typeface="Proxima Nova"/>
                <a:ea typeface="Proxima Nova"/>
                <a:cs typeface="Proxima Nova"/>
                <a:sym typeface="Proxima Nova"/>
              </a:rPr>
              <a:t> 1. Simplify complex data 2. Reveal insights 3. Aid decision making 4. Communicate information clearly</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Historical Context:</a:t>
            </a:r>
            <a:r>
              <a:rPr b="0" i="0" lang="en-US" sz="1300" u="none" cap="none" strike="noStrike">
                <a:solidFill>
                  <a:srgbClr val="616161"/>
                </a:solidFill>
                <a:latin typeface="Proxima Nova"/>
                <a:ea typeface="Proxima Nova"/>
                <a:cs typeface="Proxima Nova"/>
                <a:sym typeface="Proxima Nova"/>
              </a:rPr>
              <a:t> From ancient maps to modern infographics, the history of data visualization is rich and varied, illustrating the evolution of data representation.</a:t>
            </a:r>
            <a:endParaRPr/>
          </a:p>
        </p:txBody>
      </p:sp>
      <p:sp>
        <p:nvSpPr>
          <p:cNvPr id="87" name="Google Shape;87;p15"/>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15"/>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j0bzpfa8.png" id="89" name="Google Shape;89;p15"/>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90" name="Google Shape;90;p15"/>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Overview of Matplotlib</a:t>
            </a:r>
            <a:endParaRPr/>
          </a:p>
        </p:txBody>
      </p:sp>
      <p:sp>
        <p:nvSpPr>
          <p:cNvPr id="96" name="Google Shape;96;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 name="Google Shape;97;p1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98" name="Google Shape;98;p16"/>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6"/>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6"/>
          <p:cNvSpPr txBox="1"/>
          <p:nvPr/>
        </p:nvSpPr>
        <p:spPr>
          <a:xfrm>
            <a:off x="228600" y="1508670"/>
            <a:ext cx="4190999" cy="3169146"/>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What is Matplotlib?:</a:t>
            </a:r>
            <a:r>
              <a:rPr b="0" i="0" lang="en-US" sz="1300" u="none" cap="none" strike="noStrike">
                <a:solidFill>
                  <a:srgbClr val="616161"/>
                </a:solidFill>
                <a:latin typeface="Proxima Nova"/>
                <a:ea typeface="Proxima Nova"/>
                <a:cs typeface="Proxima Nova"/>
                <a:sym typeface="Proxima Nova"/>
              </a:rPr>
              <a:t> Matplotlib is a comprehensive library for creating static, animated, and interactive visualizations in Python.</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Key Features:</a:t>
            </a:r>
            <a:r>
              <a:rPr b="0" i="0" lang="en-US" sz="1300" u="none" cap="none" strike="noStrike">
                <a:solidFill>
                  <a:srgbClr val="616161"/>
                </a:solidFill>
                <a:latin typeface="Proxima Nova"/>
                <a:ea typeface="Proxima Nova"/>
                <a:cs typeface="Proxima Nova"/>
                <a:sym typeface="Proxima Nova"/>
              </a:rPr>
              <a:t> 1. Versatility: Supports a wide variety of plots 2. Integration: Works well with other libraries like NumPy and Pandas 3. Customization: Highly customizable to meet specific needs</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Comparison with Other Libraries:</a:t>
            </a:r>
            <a:r>
              <a:rPr b="0" i="0" lang="en-US" sz="1300" u="none" cap="none" strike="noStrike">
                <a:solidFill>
                  <a:srgbClr val="616161"/>
                </a:solidFill>
                <a:latin typeface="Proxima Nova"/>
                <a:ea typeface="Proxima Nova"/>
                <a:cs typeface="Proxima Nova"/>
                <a:sym typeface="Proxima Nova"/>
              </a:rPr>
              <a:t> Compared to other libraries like Seaborn or Plotly, Matplotlib offers a more low-level control over plots, making it a preferred choice for detailed and customized visualizations.</a:t>
            </a:r>
            <a:endParaRPr/>
          </a:p>
        </p:txBody>
      </p:sp>
      <p:sp>
        <p:nvSpPr>
          <p:cNvPr id="101" name="Google Shape;101;p16"/>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16"/>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03" name="Google Shape;103;p16"/>
          <p:cNvPicPr preferRelativeResize="0"/>
          <p:nvPr/>
        </p:nvPicPr>
        <p:blipFill>
          <a:blip r:embed="rId3">
            <a:alphaModFix/>
          </a:blip>
          <a:stretch>
            <a:fillRect/>
          </a:stretch>
        </p:blipFill>
        <p:spPr>
          <a:xfrm>
            <a:off x="4724400" y="1699952"/>
            <a:ext cx="4190996" cy="1976808"/>
          </a:xfrm>
          <a:prstGeom prst="rect">
            <a:avLst/>
          </a:prstGeom>
          <a:noFill/>
          <a:ln>
            <a:noFill/>
          </a:ln>
        </p:spPr>
      </p:pic>
      <p:sp>
        <p:nvSpPr>
          <p:cNvPr id="104" name="Google Shape;104;p16"/>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6"/>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Installing Matplotlib</a:t>
            </a:r>
            <a:endParaRPr/>
          </a:p>
        </p:txBody>
      </p:sp>
      <p:sp>
        <p:nvSpPr>
          <p:cNvPr id="111" name="Google Shape;111;p1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1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13" name="Google Shape;113;p17"/>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17"/>
          <p:cNvSpPr txBox="1"/>
          <p:nvPr/>
        </p:nvSpPr>
        <p:spPr>
          <a:xfrm>
            <a:off x="228600" y="1508670"/>
            <a:ext cx="4190999" cy="2346424"/>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Installation Process:</a:t>
            </a:r>
            <a:r>
              <a:rPr b="0" i="0" lang="en-US" sz="1300" u="none" cap="none" strike="noStrike">
                <a:solidFill>
                  <a:srgbClr val="616161"/>
                </a:solidFill>
                <a:latin typeface="Proxima Nova"/>
                <a:ea typeface="Proxima Nova"/>
                <a:cs typeface="Proxima Nova"/>
                <a:sym typeface="Proxima Nova"/>
              </a:rPr>
              <a:t> Matplotlib can be easily installed using pip or conda. Use the command `pip install matplotlib` or `conda install matplotlib`.</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Basic Setup:</a:t>
            </a:r>
            <a:r>
              <a:rPr b="0" i="0" lang="en-US" sz="1300" u="none" cap="none" strike="noStrike">
                <a:solidFill>
                  <a:srgbClr val="616161"/>
                </a:solidFill>
                <a:latin typeface="Proxima Nova"/>
                <a:ea typeface="Proxima Nova"/>
                <a:cs typeface="Proxima Nova"/>
                <a:sym typeface="Proxima Nova"/>
              </a:rPr>
              <a:t> After installation, import Matplotlib in your Python script using `import matplotlib.pyplot as plt`.</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Importing Matplotlib:</a:t>
            </a:r>
            <a:r>
              <a:rPr b="0" i="0" lang="en-US" sz="1300" u="none" cap="none" strike="noStrike">
                <a:solidFill>
                  <a:srgbClr val="616161"/>
                </a:solidFill>
                <a:latin typeface="Proxima Nova"/>
                <a:ea typeface="Proxima Nova"/>
                <a:cs typeface="Proxima Nova"/>
                <a:sym typeface="Proxima Nova"/>
              </a:rPr>
              <a:t> Commonly used aliases include `plt` for `pyplot`, which provides a MATLAB-like interface for plotting.</a:t>
            </a:r>
            <a:endParaRPr/>
          </a:p>
        </p:txBody>
      </p:sp>
      <p:sp>
        <p:nvSpPr>
          <p:cNvPr id="116" name="Google Shape;116;p17"/>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7" name="Google Shape;117;p17"/>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wvht3p0w.png" id="118" name="Google Shape;118;p17"/>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119" name="Google Shape;119;p17"/>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Basic Plotting</a:t>
            </a:r>
            <a:endParaRPr/>
          </a:p>
        </p:txBody>
      </p:sp>
      <p:sp>
        <p:nvSpPr>
          <p:cNvPr id="125" name="Google Shape;125;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6" name="Google Shape;126;p1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27" name="Google Shape;127;p18"/>
          <p:cNvSpPr/>
          <p:nvPr/>
        </p:nvSpPr>
        <p:spPr>
          <a:xfrm>
            <a:off x="228600" y="1508670"/>
            <a:ext cx="8686800"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8" name="Google Shape;128;p18"/>
          <p:cNvSpPr/>
          <p:nvPr/>
        </p:nvSpPr>
        <p:spPr>
          <a:xfrm>
            <a:off x="2286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p18"/>
          <p:cNvSpPr txBox="1"/>
          <p:nvPr/>
        </p:nvSpPr>
        <p:spPr>
          <a:xfrm>
            <a:off x="228600" y="1508670"/>
            <a:ext cx="4190999" cy="275778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a Simple Plot:</a:t>
            </a:r>
            <a:r>
              <a:rPr b="0" i="0" lang="en-US" sz="1300" u="none" cap="none" strike="noStrike">
                <a:solidFill>
                  <a:srgbClr val="616161"/>
                </a:solidFill>
                <a:latin typeface="Proxima Nova"/>
                <a:ea typeface="Proxima Nova"/>
                <a:cs typeface="Proxima Nova"/>
                <a:sym typeface="Proxima Nova"/>
              </a:rPr>
              <a:t> 1. Import matplotlib.pyplot as plt 2. Create data: `x = [1, 2, 3, 4]`, `y = [10, 20, 25, 30]` 3. Plot data: `plt.plot(x, y)` 4. Show plot: `plt.show()`</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Plots:</a:t>
            </a:r>
            <a:r>
              <a:rPr b="0" i="0" lang="en-US" sz="1300" u="none" cap="none" strike="noStrike">
                <a:solidFill>
                  <a:srgbClr val="616161"/>
                </a:solidFill>
                <a:latin typeface="Proxima Nova"/>
                <a:ea typeface="Proxima Nova"/>
                <a:cs typeface="Proxima Nova"/>
                <a:sym typeface="Proxima Nova"/>
              </a:rPr>
              <a:t> 1. Adding titles: `plt.title('Title')` 2. Labeling axes: `plt.xlabel('X-axis')`, `plt.ylabel('Y-axis')` 3. Customizing line styles and colors: `plt.plot(x, y, 'r--')`</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Plotting Multiple Lines:</a:t>
            </a:r>
            <a:r>
              <a:rPr b="0" i="0" lang="en-US" sz="1300" u="none" cap="none" strike="noStrike">
                <a:solidFill>
                  <a:srgbClr val="616161"/>
                </a:solidFill>
                <a:latin typeface="Proxima Nova"/>
                <a:ea typeface="Proxima Nova"/>
                <a:cs typeface="Proxima Nova"/>
                <a:sym typeface="Proxima Nova"/>
              </a:rPr>
              <a:t> 1. Create multiple datasets 2. Plot them using multiple `plt.plot()` calls 3. Add legends: `plt.legend(['Line 1', 'Line 2'])`</a:t>
            </a:r>
            <a:endParaRPr/>
          </a:p>
        </p:txBody>
      </p:sp>
      <p:sp>
        <p:nvSpPr>
          <p:cNvPr id="130" name="Google Shape;130;p18"/>
          <p:cNvSpPr/>
          <p:nvPr/>
        </p:nvSpPr>
        <p:spPr>
          <a:xfrm>
            <a:off x="47244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18"/>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j0bzpfa8.png" id="132" name="Google Shape;132;p18"/>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133" name="Google Shape;133;p18"/>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Line Charts</a:t>
            </a:r>
            <a:endParaRPr/>
          </a:p>
        </p:txBody>
      </p:sp>
      <p:sp>
        <p:nvSpPr>
          <p:cNvPr id="139" name="Google Shape;139;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1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41" name="Google Shape;141;p19"/>
          <p:cNvSpPr/>
          <p:nvPr/>
        </p:nvSpPr>
        <p:spPr>
          <a:xfrm>
            <a:off x="228600" y="1508670"/>
            <a:ext cx="8686800"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19"/>
          <p:cNvSpPr/>
          <p:nvPr/>
        </p:nvSpPr>
        <p:spPr>
          <a:xfrm>
            <a:off x="2286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19"/>
          <p:cNvSpPr txBox="1"/>
          <p:nvPr/>
        </p:nvSpPr>
        <p:spPr>
          <a:xfrm>
            <a:off x="228600" y="1508670"/>
            <a:ext cx="4190999" cy="275778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Trend analysis over time 2. Comparison of multiple datasets 3. Displaying continuous data</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Line Charts:</a:t>
            </a:r>
            <a:r>
              <a:rPr b="0" i="0" lang="en-US" sz="1300" u="none" cap="none" strike="noStrike">
                <a:solidFill>
                  <a:srgbClr val="616161"/>
                </a:solidFill>
                <a:latin typeface="Proxima Nova"/>
                <a:ea typeface="Proxima Nova"/>
                <a:cs typeface="Proxima Nova"/>
                <a:sym typeface="Proxima Nova"/>
              </a:rPr>
              <a:t> 1. Import matplotlib.pyplot as plt 2. Create data: `x = [1, 2, 3, 4]`, `y = [10, 20, 25, 30]` 3. Plot data: `plt.plot(x, y)`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Line Charts:</a:t>
            </a:r>
            <a:r>
              <a:rPr b="0" i="0" lang="en-US" sz="1300" u="none" cap="none" strike="noStrike">
                <a:solidFill>
                  <a:srgbClr val="616161"/>
                </a:solidFill>
                <a:latin typeface="Proxima Nova"/>
                <a:ea typeface="Proxima Nova"/>
                <a:cs typeface="Proxima Nova"/>
                <a:sym typeface="Proxima Nova"/>
              </a:rPr>
              <a:t> 1. Line styles and colors: `plt.plot(x, y, 'r--')` 2. Adding markers: `plt.plot(x, y, marker='o')` 3. Filling area under the curve: `plt.fill_between(x, y)`</a:t>
            </a:r>
            <a:endParaRPr/>
          </a:p>
        </p:txBody>
      </p:sp>
      <p:sp>
        <p:nvSpPr>
          <p:cNvPr id="144" name="Google Shape;144;p19"/>
          <p:cNvSpPr/>
          <p:nvPr/>
        </p:nvSpPr>
        <p:spPr>
          <a:xfrm>
            <a:off x="47244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19"/>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bwb3d4j5.png" id="146" name="Google Shape;146;p19"/>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147" name="Google Shape;147;p19"/>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Bar Charts</a:t>
            </a:r>
            <a:endParaRPr/>
          </a:p>
        </p:txBody>
      </p:sp>
      <p:sp>
        <p:nvSpPr>
          <p:cNvPr id="153" name="Google Shape;153;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2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55" name="Google Shape;155;p20"/>
          <p:cNvSpPr/>
          <p:nvPr/>
        </p:nvSpPr>
        <p:spPr>
          <a:xfrm>
            <a:off x="228600" y="1508670"/>
            <a:ext cx="8686800"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20"/>
          <p:cNvSpPr/>
          <p:nvPr/>
        </p:nvSpPr>
        <p:spPr>
          <a:xfrm>
            <a:off x="2286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20"/>
          <p:cNvSpPr txBox="1"/>
          <p:nvPr/>
        </p:nvSpPr>
        <p:spPr>
          <a:xfrm>
            <a:off x="228600" y="1508670"/>
            <a:ext cx="4190999" cy="296346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Comparing categorical data 2. Visualizing frequencies 3. Representing proportions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Bar Charts:</a:t>
            </a:r>
            <a:r>
              <a:rPr b="0" i="0" lang="en-US" sz="1300" u="none" cap="none" strike="noStrike">
                <a:solidFill>
                  <a:srgbClr val="616161"/>
                </a:solidFill>
                <a:latin typeface="Proxima Nova"/>
                <a:ea typeface="Proxima Nova"/>
                <a:cs typeface="Proxima Nova"/>
                <a:sym typeface="Proxima Nova"/>
              </a:rPr>
              <a:t> 1. Import matplotlib.pyplot as plt 2. Create data: `categories = ['A', 'B', 'C']`, `values = [10, 20, 15]` 3. Plot data: `plt.bar(categories, values)`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Bar Charts:</a:t>
            </a:r>
            <a:r>
              <a:rPr b="0" i="0" lang="en-US" sz="1300" u="none" cap="none" strike="noStrike">
                <a:solidFill>
                  <a:srgbClr val="616161"/>
                </a:solidFill>
                <a:latin typeface="Proxima Nova"/>
                <a:ea typeface="Proxima Nova"/>
                <a:cs typeface="Proxima Nova"/>
                <a:sym typeface="Proxima Nova"/>
              </a:rPr>
              <a:t> 1. Bar colors: `plt.bar(categories, values, color='blue')` 2. Adding titles and labels: `plt.title('Bar Chart')`, `plt.xlabel('Category')`, `plt.ylabel('Values')` 3. Horizontal bars: `plt.barh(categories, values)`</a:t>
            </a:r>
            <a:endParaRPr/>
          </a:p>
        </p:txBody>
      </p:sp>
      <p:sp>
        <p:nvSpPr>
          <p:cNvPr id="158" name="Google Shape;158;p20"/>
          <p:cNvSpPr/>
          <p:nvPr/>
        </p:nvSpPr>
        <p:spPr>
          <a:xfrm>
            <a:off x="47244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20"/>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0" name="Google Shape;160;p20"/>
          <p:cNvPicPr preferRelativeResize="0"/>
          <p:nvPr/>
        </p:nvPicPr>
        <p:blipFill rotWithShape="1">
          <a:blip r:embed="rId3">
            <a:alphaModFix/>
          </a:blip>
          <a:srcRect b="0" l="8555" r="8547" t="0"/>
          <a:stretch/>
        </p:blipFill>
        <p:spPr>
          <a:xfrm>
            <a:off x="4724400" y="1508670"/>
            <a:ext cx="4191000" cy="2359373"/>
          </a:xfrm>
          <a:prstGeom prst="rect">
            <a:avLst/>
          </a:prstGeom>
          <a:noFill/>
          <a:ln>
            <a:noFill/>
          </a:ln>
        </p:spPr>
      </p:pic>
      <p:sp>
        <p:nvSpPr>
          <p:cNvPr id="161" name="Google Shape;161;p20"/>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Histograms</a:t>
            </a:r>
            <a:endParaRPr/>
          </a:p>
        </p:txBody>
      </p:sp>
      <p:sp>
        <p:nvSpPr>
          <p:cNvPr id="167" name="Google Shape;167;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69" name="Google Shape;169;p21"/>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21"/>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p21"/>
          <p:cNvSpPr txBox="1"/>
          <p:nvPr/>
        </p:nvSpPr>
        <p:spPr>
          <a:xfrm>
            <a:off x="228600" y="1508670"/>
            <a:ext cx="4191000" cy="3169200"/>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Visualizing the distribution of a dataset 2. Showing frequency of data points 3. Identifying patterns and outliers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Histograms:</a:t>
            </a:r>
            <a:r>
              <a:rPr b="0" i="0" lang="en-US" sz="1300" u="none" cap="none" strike="noStrike">
                <a:solidFill>
                  <a:srgbClr val="616161"/>
                </a:solidFill>
                <a:latin typeface="Proxima Nova"/>
                <a:ea typeface="Proxima Nova"/>
                <a:cs typeface="Proxima Nova"/>
                <a:sym typeface="Proxima Nova"/>
              </a:rPr>
              <a:t> 1. Import matplotlib.pyplot as plt 2. Create data: `data = [1, 2, 2, 3, 3, 3, 4, 4, 4, 4]` 3. Plot histogram: `plt.hist(data, bins=4)`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Histograms:</a:t>
            </a:r>
            <a:r>
              <a:rPr b="0" i="0" lang="en-US" sz="1300" u="none" cap="none" strike="noStrike">
                <a:solidFill>
                  <a:srgbClr val="616161"/>
                </a:solidFill>
                <a:latin typeface="Proxima Nova"/>
                <a:ea typeface="Proxima Nova"/>
                <a:cs typeface="Proxima Nova"/>
                <a:sym typeface="Proxima Nova"/>
              </a:rPr>
              <a:t> 1. Number of bins: `plt.hist(data, bins=10)` 2. Color and edge color: `plt.hist(data, bins=4, color='blue', edgecolor='black')` 3. Adding titles and labels: `plt.title('Histogram')`, `plt.xlabel('Data')`, `plt.ylabel('Frequency')`</a:t>
            </a:r>
            <a:endParaRPr/>
          </a:p>
        </p:txBody>
      </p:sp>
      <p:sp>
        <p:nvSpPr>
          <p:cNvPr id="172" name="Google Shape;172;p21"/>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21"/>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74" name="Google Shape;174;p21"/>
          <p:cNvPicPr preferRelativeResize="0"/>
          <p:nvPr/>
        </p:nvPicPr>
        <p:blipFill>
          <a:blip r:embed="rId3">
            <a:alphaModFix/>
          </a:blip>
          <a:stretch>
            <a:fillRect/>
          </a:stretch>
        </p:blipFill>
        <p:spPr>
          <a:xfrm>
            <a:off x="4724400" y="1273820"/>
            <a:ext cx="4190999" cy="2829071"/>
          </a:xfrm>
          <a:prstGeom prst="rect">
            <a:avLst/>
          </a:prstGeom>
          <a:noFill/>
          <a:ln>
            <a:noFill/>
          </a:ln>
        </p:spPr>
      </p:pic>
      <p:sp>
        <p:nvSpPr>
          <p:cNvPr id="175" name="Google Shape;175;p21"/>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Scatter Plots</a:t>
            </a:r>
            <a:endParaRPr/>
          </a:p>
        </p:txBody>
      </p:sp>
      <p:sp>
        <p:nvSpPr>
          <p:cNvPr id="181" name="Google Shape;181;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2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83" name="Google Shape;183;p22"/>
          <p:cNvSpPr/>
          <p:nvPr/>
        </p:nvSpPr>
        <p:spPr>
          <a:xfrm>
            <a:off x="228600" y="1508670"/>
            <a:ext cx="8686800"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22"/>
          <p:cNvSpPr/>
          <p:nvPr/>
        </p:nvSpPr>
        <p:spPr>
          <a:xfrm>
            <a:off x="2286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22"/>
          <p:cNvSpPr txBox="1"/>
          <p:nvPr/>
        </p:nvSpPr>
        <p:spPr>
          <a:xfrm>
            <a:off x="228600" y="1508670"/>
            <a:ext cx="4190999" cy="296346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Identifying correlations between variables 2. Detecting outliers 3. Visualizing clusters and distributions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Scatter Plots:</a:t>
            </a:r>
            <a:r>
              <a:rPr b="0" i="0" lang="en-US" sz="1300" u="none" cap="none" strike="noStrike">
                <a:solidFill>
                  <a:srgbClr val="616161"/>
                </a:solidFill>
                <a:latin typeface="Proxima Nova"/>
                <a:ea typeface="Proxima Nova"/>
                <a:cs typeface="Proxima Nova"/>
                <a:sym typeface="Proxima Nova"/>
              </a:rPr>
              <a:t> 1. Import matplotlib.pyplot as plt 2. Create data: `x = [1, 2, 3, 4]`, `y = [10, 20, 25, 30]` 3. Plot data: `plt.scatter(x, y)`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Scatter Plots:</a:t>
            </a:r>
            <a:r>
              <a:rPr b="0" i="0" lang="en-US" sz="1300" u="none" cap="none" strike="noStrike">
                <a:solidFill>
                  <a:srgbClr val="616161"/>
                </a:solidFill>
                <a:latin typeface="Proxima Nova"/>
                <a:ea typeface="Proxima Nova"/>
                <a:cs typeface="Proxima Nova"/>
                <a:sym typeface="Proxima Nova"/>
              </a:rPr>
              <a:t> 1. Marker size and color: `plt.scatter(x, y, s=100, c='red')` 2. Adding titles and labels: `plt.title('Scatter Plot')`, `plt.xlabel('X-axis')`, `plt.ylabel('Y-axis')` 3. Adding grid: `plt.grid(True)`</a:t>
            </a:r>
            <a:endParaRPr/>
          </a:p>
        </p:txBody>
      </p:sp>
      <p:sp>
        <p:nvSpPr>
          <p:cNvPr id="186" name="Google Shape;186;p22"/>
          <p:cNvSpPr/>
          <p:nvPr/>
        </p:nvSpPr>
        <p:spPr>
          <a:xfrm>
            <a:off x="47244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22"/>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88" name="Google Shape;188;p22"/>
          <p:cNvPicPr preferRelativeResize="0"/>
          <p:nvPr/>
        </p:nvPicPr>
        <p:blipFill>
          <a:blip r:embed="rId3">
            <a:alphaModFix/>
          </a:blip>
          <a:stretch>
            <a:fillRect/>
          </a:stretch>
        </p:blipFill>
        <p:spPr>
          <a:xfrm>
            <a:off x="4724400" y="1405397"/>
            <a:ext cx="4190999" cy="2565918"/>
          </a:xfrm>
          <a:prstGeom prst="rect">
            <a:avLst/>
          </a:prstGeom>
          <a:noFill/>
          <a:ln>
            <a:noFill/>
          </a:ln>
        </p:spPr>
      </p:pic>
      <p:sp>
        <p:nvSpPr>
          <p:cNvPr id="189" name="Google Shape;189;p22"/>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Pie Charts</a:t>
            </a:r>
            <a:endParaRPr/>
          </a:p>
        </p:txBody>
      </p:sp>
      <p:sp>
        <p:nvSpPr>
          <p:cNvPr id="195" name="Google Shape;195;p23"/>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23"/>
          <p:cNvSpPr/>
          <p:nvPr/>
        </p:nvSpPr>
        <p:spPr>
          <a:xfrm>
            <a:off x="228600" y="15848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197" name="Google Shape;197;p23"/>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23"/>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23"/>
          <p:cNvSpPr txBox="1"/>
          <p:nvPr/>
        </p:nvSpPr>
        <p:spPr>
          <a:xfrm>
            <a:off x="228600" y="1508670"/>
            <a:ext cx="4190999" cy="2552104"/>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Showing proportions of a whole 2. Comparing relative sizes of categories 3. Visualizing categorical data</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Pie Charts:</a:t>
            </a:r>
            <a:r>
              <a:rPr b="0" i="0" lang="en-US" sz="1300" u="none" cap="none" strike="noStrike">
                <a:solidFill>
                  <a:srgbClr val="616161"/>
                </a:solidFill>
                <a:latin typeface="Proxima Nova"/>
                <a:ea typeface="Proxima Nova"/>
                <a:cs typeface="Proxima Nova"/>
                <a:sym typeface="Proxima Nova"/>
              </a:rPr>
              <a:t> 1. Import matplotlib.pyplot as plt 2. Create data: `sizes = [15, 30, 45, 10]` 3. Plot data: `plt.pie(sizes)`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Pie Charts:</a:t>
            </a:r>
            <a:r>
              <a:rPr b="0" i="0" lang="en-US" sz="1300" u="none" cap="none" strike="noStrike">
                <a:solidFill>
                  <a:srgbClr val="616161"/>
                </a:solidFill>
                <a:latin typeface="Proxima Nova"/>
                <a:ea typeface="Proxima Nova"/>
                <a:cs typeface="Proxima Nova"/>
                <a:sym typeface="Proxima Nova"/>
              </a:rPr>
              <a:t> 1. Adding labels: `plt.pie(sizes, labels=['A', 'B', 'C', 'D'])` 2. Exploding slices: `plt.pie(sizes, explode=(0, 0.1, 0, 0))` 3. Adding a legend: `plt.legend(['A', 'B', 'C', 'D'])`</a:t>
            </a:r>
            <a:endParaRPr/>
          </a:p>
        </p:txBody>
      </p:sp>
      <p:sp>
        <p:nvSpPr>
          <p:cNvPr id="200" name="Google Shape;200;p23"/>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23"/>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2" name="Google Shape;202;p23"/>
          <p:cNvPicPr preferRelativeResize="0"/>
          <p:nvPr/>
        </p:nvPicPr>
        <p:blipFill>
          <a:blip r:embed="rId3">
            <a:alphaModFix/>
          </a:blip>
          <a:stretch>
            <a:fillRect/>
          </a:stretch>
        </p:blipFill>
        <p:spPr>
          <a:xfrm>
            <a:off x="4724400" y="1133973"/>
            <a:ext cx="4190999" cy="3108767"/>
          </a:xfrm>
          <a:prstGeom prst="rect">
            <a:avLst/>
          </a:prstGeom>
          <a:noFill/>
          <a:ln>
            <a:noFill/>
          </a:ln>
        </p:spPr>
      </p:pic>
      <p:sp>
        <p:nvSpPr>
          <p:cNvPr id="203" name="Google Shape;203;p23"/>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Box Plots</a:t>
            </a:r>
            <a:endParaRPr/>
          </a:p>
        </p:txBody>
      </p:sp>
      <p:sp>
        <p:nvSpPr>
          <p:cNvPr id="209" name="Google Shape;209;p2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24"/>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11" name="Google Shape;211;p24"/>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24"/>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24"/>
          <p:cNvSpPr txBox="1"/>
          <p:nvPr/>
        </p:nvSpPr>
        <p:spPr>
          <a:xfrm>
            <a:off x="228600" y="1508670"/>
            <a:ext cx="4190999" cy="3169146"/>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Use Cases:</a:t>
            </a:r>
            <a:r>
              <a:rPr b="0" i="0" lang="en-US" sz="1300" u="none" cap="none" strike="noStrike">
                <a:solidFill>
                  <a:srgbClr val="616161"/>
                </a:solidFill>
                <a:latin typeface="Proxima Nova"/>
                <a:ea typeface="Proxima Nova"/>
                <a:cs typeface="Proxima Nova"/>
                <a:sym typeface="Proxima Nova"/>
              </a:rPr>
              <a:t> 1. Summarizing the distribution of a dataset 2. Highlighting median, quartiles, and outliers 3. Comparing distributions between groups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Box Plots:</a:t>
            </a:r>
            <a:r>
              <a:rPr b="0" i="0" lang="en-US" sz="1300" u="none" cap="none" strike="noStrike">
                <a:solidFill>
                  <a:srgbClr val="616161"/>
                </a:solidFill>
                <a:latin typeface="Proxima Nova"/>
                <a:ea typeface="Proxima Nova"/>
                <a:cs typeface="Proxima Nova"/>
                <a:sym typeface="Proxima Nova"/>
              </a:rPr>
              <a:t> 1. Import matplotlib.pyplot as plt 2. Create data: `data = [np.random.normal(size=100), np.random.normal(size=100)]` 3. Plot data: `plt.boxplot(data)` 4. Show plot: `plt.show()`</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Box Plots:</a:t>
            </a:r>
            <a:r>
              <a:rPr b="0" i="0" lang="en-US" sz="1300" u="none" cap="none" strike="noStrike">
                <a:solidFill>
                  <a:srgbClr val="616161"/>
                </a:solidFill>
                <a:latin typeface="Proxima Nova"/>
                <a:ea typeface="Proxima Nova"/>
                <a:cs typeface="Proxima Nova"/>
                <a:sym typeface="Proxima Nova"/>
              </a:rPr>
              <a:t> 1. Adding labels: `plt.boxplot(data, labels=['Group 1', 'Group 2'])` 2. Customizing whiskers: `plt.boxplot(data, whis=[5, 95])` 3. Adding grid: `plt.grid(True)`</a:t>
            </a:r>
            <a:endParaRPr/>
          </a:p>
        </p:txBody>
      </p:sp>
      <p:sp>
        <p:nvSpPr>
          <p:cNvPr id="214" name="Google Shape;214;p24"/>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24"/>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16" name="Google Shape;216;p24"/>
          <p:cNvPicPr preferRelativeResize="0"/>
          <p:nvPr/>
        </p:nvPicPr>
        <p:blipFill rotWithShape="1">
          <a:blip r:embed="rId3">
            <a:alphaModFix/>
          </a:blip>
          <a:srcRect b="0" l="8552" r="13844" t="0"/>
          <a:stretch/>
        </p:blipFill>
        <p:spPr>
          <a:xfrm>
            <a:off x="4724400" y="1552400"/>
            <a:ext cx="3923376" cy="2359375"/>
          </a:xfrm>
          <a:prstGeom prst="rect">
            <a:avLst/>
          </a:prstGeom>
          <a:noFill/>
          <a:ln>
            <a:noFill/>
          </a:ln>
        </p:spPr>
      </p:pic>
      <p:sp>
        <p:nvSpPr>
          <p:cNvPr id="217" name="Google Shape;217;p24"/>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Advanced Plotting Techniques</a:t>
            </a:r>
            <a:endParaRPr/>
          </a:p>
        </p:txBody>
      </p:sp>
      <p:sp>
        <p:nvSpPr>
          <p:cNvPr id="223" name="Google Shape;223;p2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25"/>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25" name="Google Shape;225;p25"/>
          <p:cNvSpPr/>
          <p:nvPr/>
        </p:nvSpPr>
        <p:spPr>
          <a:xfrm>
            <a:off x="228600" y="1508670"/>
            <a:ext cx="8686800"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25"/>
          <p:cNvSpPr/>
          <p:nvPr/>
        </p:nvSpPr>
        <p:spPr>
          <a:xfrm>
            <a:off x="2286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25"/>
          <p:cNvSpPr txBox="1"/>
          <p:nvPr/>
        </p:nvSpPr>
        <p:spPr>
          <a:xfrm>
            <a:off x="228600" y="1508670"/>
            <a:ext cx="4190999" cy="275778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Subplots:</a:t>
            </a:r>
            <a:r>
              <a:rPr b="0" i="0" lang="en-US" sz="1300" u="none" cap="none" strike="noStrike">
                <a:solidFill>
                  <a:srgbClr val="616161"/>
                </a:solidFill>
                <a:latin typeface="Proxima Nova"/>
                <a:ea typeface="Proxima Nova"/>
                <a:cs typeface="Proxima Nova"/>
                <a:sym typeface="Proxima Nova"/>
              </a:rPr>
              <a:t> 1. Creating multiple plots in one figure 2. Using `plt.subplot()` to specify layout 3. Example: `plt.subplot(2, 1, 1)` and `plt.subplot(2, 1, 2)`</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Logarithmic Scale:</a:t>
            </a:r>
            <a:r>
              <a:rPr b="0" i="0" lang="en-US" sz="1300" u="none" cap="none" strike="noStrike">
                <a:solidFill>
                  <a:srgbClr val="616161"/>
                </a:solidFill>
                <a:latin typeface="Proxima Nova"/>
                <a:ea typeface="Proxima Nova"/>
                <a:cs typeface="Proxima Nova"/>
                <a:sym typeface="Proxima Nova"/>
              </a:rPr>
              <a:t> 1. Applying log scale to axes 2. Using `plt.xscale('log')` and `plt.yscale('log')` 3. Example: `plt.plot(x, y)` with log scale</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Annotations:</a:t>
            </a:r>
            <a:r>
              <a:rPr b="0" i="0" lang="en-US" sz="1300" u="none" cap="none" strike="noStrike">
                <a:solidFill>
                  <a:srgbClr val="616161"/>
                </a:solidFill>
                <a:latin typeface="Proxima Nova"/>
                <a:ea typeface="Proxima Nova"/>
                <a:cs typeface="Proxima Nova"/>
                <a:sym typeface="Proxima Nova"/>
              </a:rPr>
              <a:t> 1. Adding text and arrows to plots 2. Using `plt.annotate()` for custom annotations 3. Example: `plt.annotate('Point', xy=(x, y), xytext=(x+1, y+1), arrowprops=dict(facecolor='black', shrink=0.05))`</a:t>
            </a:r>
            <a:endParaRPr/>
          </a:p>
        </p:txBody>
      </p:sp>
      <p:sp>
        <p:nvSpPr>
          <p:cNvPr id="228" name="Google Shape;228;p25"/>
          <p:cNvSpPr/>
          <p:nvPr/>
        </p:nvSpPr>
        <p:spPr>
          <a:xfrm>
            <a:off x="4724400" y="1508670"/>
            <a:ext cx="4190999" cy="275778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5"/>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w28vvd4e.png" id="230" name="Google Shape;230;p25"/>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231" name="Google Shape;231;p25"/>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Styling Plots</a:t>
            </a:r>
            <a:endParaRPr/>
          </a:p>
        </p:txBody>
      </p:sp>
      <p:sp>
        <p:nvSpPr>
          <p:cNvPr id="237" name="Google Shape;237;p2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26"/>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39" name="Google Shape;239;p26"/>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26"/>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26"/>
          <p:cNvSpPr txBox="1"/>
          <p:nvPr/>
        </p:nvSpPr>
        <p:spPr>
          <a:xfrm>
            <a:off x="228600" y="1508670"/>
            <a:ext cx="4190999" cy="3169146"/>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Customizing Colors and Markers:</a:t>
            </a:r>
            <a:r>
              <a:rPr b="0" i="0" lang="en-US" sz="1300" u="none" cap="none" strike="noStrike">
                <a:solidFill>
                  <a:srgbClr val="616161"/>
                </a:solidFill>
                <a:latin typeface="Proxima Nova"/>
                <a:ea typeface="Proxima Nova"/>
                <a:cs typeface="Proxima Nova"/>
                <a:sym typeface="Proxima Nova"/>
              </a:rPr>
              <a:t> 1. Changing line colors: `plt.plot(x, y, color='red')` 2. Customizing markers: `plt.plot(x, y, marker='o')` 3. Using hex color codes: `plt.plot(x, y, color='#FF5733')`</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Using Styles and Themes:</a:t>
            </a:r>
            <a:r>
              <a:rPr b="0" i="0" lang="en-US" sz="1300" u="none" cap="none" strike="noStrike">
                <a:solidFill>
                  <a:srgbClr val="616161"/>
                </a:solidFill>
                <a:latin typeface="Proxima Nova"/>
                <a:ea typeface="Proxima Nova"/>
                <a:cs typeface="Proxima Nova"/>
                <a:sym typeface="Proxima Nova"/>
              </a:rPr>
              <a:t> 1. Applying built-in styles: `plt.style.use('ggplot')` 2. Viewing available styles: `print(plt.style.available)` 3. Creating custom styles: Define style dictionary and use `plt.style.use()`</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Adding Grid and Legends:</a:t>
            </a:r>
            <a:r>
              <a:rPr b="0" i="0" lang="en-US" sz="1300" u="none" cap="none" strike="noStrike">
                <a:solidFill>
                  <a:srgbClr val="616161"/>
                </a:solidFill>
                <a:latin typeface="Proxima Nova"/>
                <a:ea typeface="Proxima Nova"/>
                <a:cs typeface="Proxima Nova"/>
                <a:sym typeface="Proxima Nova"/>
              </a:rPr>
              <a:t> 1. Adding grid: `plt.grid(True)` 2. Customizing grid lines: `plt.grid(color='gray', linestyle='--', linewidth=0.5)` 3. Adding legends: `plt.legend(['Line 1', 'Line 2'])`</a:t>
            </a:r>
            <a:endParaRPr/>
          </a:p>
        </p:txBody>
      </p:sp>
      <p:sp>
        <p:nvSpPr>
          <p:cNvPr id="242" name="Google Shape;242;p26"/>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26"/>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44" name="Google Shape;244;p26"/>
          <p:cNvPicPr preferRelativeResize="0"/>
          <p:nvPr/>
        </p:nvPicPr>
        <p:blipFill rotWithShape="1">
          <a:blip r:embed="rId3">
            <a:alphaModFix/>
          </a:blip>
          <a:srcRect b="21849" l="0" r="0" t="21854"/>
          <a:stretch/>
        </p:blipFill>
        <p:spPr>
          <a:xfrm>
            <a:off x="4724400" y="1508670"/>
            <a:ext cx="4190999" cy="2359373"/>
          </a:xfrm>
          <a:prstGeom prst="rect">
            <a:avLst/>
          </a:prstGeom>
          <a:noFill/>
          <a:ln>
            <a:noFill/>
          </a:ln>
        </p:spPr>
      </p:pic>
      <p:sp>
        <p:nvSpPr>
          <p:cNvPr id="245" name="Google Shape;245;p26"/>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26"/>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Plotting with Pandas</a:t>
            </a:r>
            <a:endParaRPr/>
          </a:p>
        </p:txBody>
      </p:sp>
      <p:sp>
        <p:nvSpPr>
          <p:cNvPr id="252" name="Google Shape;252;p2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27"/>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54" name="Google Shape;254;p27"/>
          <p:cNvSpPr/>
          <p:nvPr/>
        </p:nvSpPr>
        <p:spPr>
          <a:xfrm>
            <a:off x="228600" y="1508670"/>
            <a:ext cx="8686800"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27"/>
          <p:cNvSpPr/>
          <p:nvPr/>
        </p:nvSpPr>
        <p:spPr>
          <a:xfrm>
            <a:off x="2286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27"/>
          <p:cNvSpPr txBox="1"/>
          <p:nvPr/>
        </p:nvSpPr>
        <p:spPr>
          <a:xfrm>
            <a:off x="228600" y="1508670"/>
            <a:ext cx="4190999" cy="296346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Integrating with Pandas DataFrames:</a:t>
            </a:r>
            <a:r>
              <a:rPr b="0" i="0" lang="en-US" sz="1300" u="none" cap="none" strike="noStrike">
                <a:solidFill>
                  <a:srgbClr val="616161"/>
                </a:solidFill>
                <a:latin typeface="Proxima Nova"/>
                <a:ea typeface="Proxima Nova"/>
                <a:cs typeface="Proxima Nova"/>
                <a:sym typeface="Proxima Nova"/>
              </a:rPr>
              <a:t> 1. Using Matplotlib with Pandas for easy plotting 2. Creating plots directly from DataFrames 3. Example: `df.plot()` to generate plots from DataFrame `df`</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Plotting Data Directly from DataFrames:</a:t>
            </a:r>
            <a:r>
              <a:rPr b="0" i="0" lang="en-US" sz="1300" u="none" cap="none" strike="noStrike">
                <a:solidFill>
                  <a:srgbClr val="616161"/>
                </a:solidFill>
                <a:latin typeface="Proxima Nova"/>
                <a:ea typeface="Proxima Nova"/>
                <a:cs typeface="Proxima Nova"/>
                <a:sym typeface="Proxima Nova"/>
              </a:rPr>
              <a:t> 1. Line plot: `df.plot.line()` 2. Bar plot: `df.plot.bar()` 3. Histogram: `df.plot.hist()`</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Example Code Snippets:</a:t>
            </a:r>
            <a:r>
              <a:rPr b="0" i="0" lang="en-US" sz="1300" u="none" cap="none" strike="noStrike">
                <a:solidFill>
                  <a:srgbClr val="616161"/>
                </a:solidFill>
                <a:latin typeface="Proxima Nova"/>
                <a:ea typeface="Proxima Nova"/>
                <a:cs typeface="Proxima Nova"/>
                <a:sym typeface="Proxima Nova"/>
              </a:rPr>
              <a:t> 1. `import pandas as pd` 2. `import matplotlib.pyplot as plt` 3. `df = pd.DataFrame({'x': range(1, 10), 'y': range(10, 1, -1)})` 4. `df.plot(x='x', y='y')` 5. `plt.show()`</a:t>
            </a:r>
            <a:endParaRPr/>
          </a:p>
        </p:txBody>
      </p:sp>
      <p:sp>
        <p:nvSpPr>
          <p:cNvPr id="257" name="Google Shape;257;p27"/>
          <p:cNvSpPr/>
          <p:nvPr/>
        </p:nvSpPr>
        <p:spPr>
          <a:xfrm>
            <a:off x="47244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27"/>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59" name="Google Shape;259;p27"/>
          <p:cNvPicPr preferRelativeResize="0"/>
          <p:nvPr/>
        </p:nvPicPr>
        <p:blipFill rotWithShape="1">
          <a:blip r:embed="rId3">
            <a:alphaModFix/>
          </a:blip>
          <a:srcRect b="7762" l="0" r="0" t="7771"/>
          <a:stretch/>
        </p:blipFill>
        <p:spPr>
          <a:xfrm>
            <a:off x="4724400" y="1508670"/>
            <a:ext cx="4190996" cy="2359372"/>
          </a:xfrm>
          <a:prstGeom prst="rect">
            <a:avLst/>
          </a:prstGeom>
          <a:noFill/>
          <a:ln>
            <a:noFill/>
          </a:ln>
        </p:spPr>
      </p:pic>
      <p:sp>
        <p:nvSpPr>
          <p:cNvPr id="260" name="Google Shape;260;p27"/>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3D Plotting</a:t>
            </a:r>
            <a:endParaRPr/>
          </a:p>
        </p:txBody>
      </p:sp>
      <p:sp>
        <p:nvSpPr>
          <p:cNvPr id="266" name="Google Shape;266;p2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28"/>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616161"/>
              </a:solidFill>
              <a:latin typeface="Proxima Nova"/>
              <a:ea typeface="Proxima Nova"/>
              <a:cs typeface="Proxima Nova"/>
              <a:sym typeface="Proxima Nova"/>
            </a:endParaRPr>
          </a:p>
        </p:txBody>
      </p:sp>
      <p:sp>
        <p:nvSpPr>
          <p:cNvPr id="268" name="Google Shape;268;p28"/>
          <p:cNvSpPr/>
          <p:nvPr/>
        </p:nvSpPr>
        <p:spPr>
          <a:xfrm>
            <a:off x="228600" y="1508670"/>
            <a:ext cx="8686800" cy="3135213"/>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28"/>
          <p:cNvSpPr/>
          <p:nvPr/>
        </p:nvSpPr>
        <p:spPr>
          <a:xfrm>
            <a:off x="228600" y="1508670"/>
            <a:ext cx="4190999" cy="3135213"/>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28"/>
          <p:cNvSpPr txBox="1"/>
          <p:nvPr/>
        </p:nvSpPr>
        <p:spPr>
          <a:xfrm>
            <a:off x="228600" y="1508670"/>
            <a:ext cx="4190999" cy="3135213"/>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200"/>
              <a:buFont typeface="Arial"/>
              <a:buChar char="•"/>
            </a:pPr>
            <a:r>
              <a:rPr b="1" i="0" lang="en-US" sz="1200" u="none" cap="none" strike="noStrike">
                <a:solidFill>
                  <a:srgbClr val="616161"/>
                </a:solidFill>
                <a:latin typeface="Proxima Nova"/>
                <a:ea typeface="Proxima Nova"/>
                <a:cs typeface="Proxima Nova"/>
                <a:sym typeface="Proxima Nova"/>
              </a:rPr>
              <a:t>Introduction to 3D Plotting:</a:t>
            </a:r>
            <a:r>
              <a:rPr b="0" i="0" lang="en-US" sz="1200" u="none" cap="none" strike="noStrike">
                <a:solidFill>
                  <a:srgbClr val="616161"/>
                </a:solidFill>
                <a:latin typeface="Proxima Nova"/>
                <a:ea typeface="Proxima Nova"/>
                <a:cs typeface="Proxima Nova"/>
                <a:sym typeface="Proxima Nova"/>
              </a:rPr>
              <a:t> 1. Matplotlib supports 3D plotting through `mpl_toolkits.mplot3d` 2. Useful for visualizing complex datasets 3. Example: 3D scatter plots, surface plots</a:t>
            </a:r>
            <a:endParaRPr/>
          </a:p>
          <a:p>
            <a:pPr indent="-91440" lvl="1" marL="228600" marR="0" rtl="0" algn="l">
              <a:lnSpc>
                <a:spcPct val="100000"/>
              </a:lnSpc>
              <a:spcBef>
                <a:spcPts val="2000"/>
              </a:spcBef>
              <a:spcAft>
                <a:spcPts val="0"/>
              </a:spcAft>
              <a:buClr>
                <a:srgbClr val="000000"/>
              </a:buClr>
              <a:buSzPts val="1200"/>
              <a:buFont typeface="Arial"/>
              <a:buChar char="•"/>
            </a:pPr>
            <a:r>
              <a:rPr b="1" i="0" lang="en-US" sz="1200" u="none" cap="none" strike="noStrike">
                <a:solidFill>
                  <a:srgbClr val="616161"/>
                </a:solidFill>
                <a:latin typeface="Proxima Nova"/>
                <a:ea typeface="Proxima Nova"/>
                <a:cs typeface="Proxima Nova"/>
                <a:sym typeface="Proxima Nova"/>
              </a:rPr>
              <a:t>Creating 3D Plots:</a:t>
            </a:r>
            <a:r>
              <a:rPr b="0" i="0" lang="en-US" sz="1200" u="none" cap="none" strike="noStrike">
                <a:solidFill>
                  <a:srgbClr val="616161"/>
                </a:solidFill>
                <a:latin typeface="Proxima Nova"/>
                <a:ea typeface="Proxima Nova"/>
                <a:cs typeface="Proxima Nova"/>
                <a:sym typeface="Proxima Nova"/>
              </a:rPr>
              <a:t> 1. Import necessary modules: `from mpl_toolkits.mplot3d import Axes3D` 2. Create a figure and add 3D axes: `fig = plt.figure()`, `ax = fig.add_subplot(111, projection='3d')` 3. Plot data: `ax.scatter(x, y, z)`</a:t>
            </a:r>
            <a:endParaRPr/>
          </a:p>
          <a:p>
            <a:pPr indent="-91440" lvl="1" marL="228600" marR="0" rtl="0" algn="l">
              <a:lnSpc>
                <a:spcPct val="100000"/>
              </a:lnSpc>
              <a:spcBef>
                <a:spcPts val="1200"/>
              </a:spcBef>
              <a:spcAft>
                <a:spcPts val="0"/>
              </a:spcAft>
              <a:buClr>
                <a:srgbClr val="000000"/>
              </a:buClr>
              <a:buSzPts val="1200"/>
              <a:buFont typeface="Arial"/>
              <a:buChar char="•"/>
            </a:pPr>
            <a:r>
              <a:rPr b="1" i="0" lang="en-US" sz="1200" u="none" cap="none" strike="noStrike">
                <a:solidFill>
                  <a:srgbClr val="616161"/>
                </a:solidFill>
                <a:latin typeface="Proxima Nova"/>
                <a:ea typeface="Proxima Nova"/>
                <a:cs typeface="Proxima Nova"/>
                <a:sym typeface="Proxima Nova"/>
              </a:rPr>
              <a:t>Customizing 3D Plots:</a:t>
            </a:r>
            <a:r>
              <a:rPr b="0" i="0" lang="en-US" sz="1200" u="none" cap="none" strike="noStrike">
                <a:solidFill>
                  <a:srgbClr val="616161"/>
                </a:solidFill>
                <a:latin typeface="Proxima Nova"/>
                <a:ea typeface="Proxima Nova"/>
                <a:cs typeface="Proxima Nova"/>
                <a:sym typeface="Proxima Nova"/>
              </a:rPr>
              <a:t> 1. Setting labels: `ax.set_xlabel('X Label')`, `ax.set_ylabel('Y Label')`, `ax.set_zlabel('Z Label')` 2. Changing view angle: `ax.view_init(elev=20, azim=30)` 3. Adding color maps: `ax.plot_surface(X, Y, Z, cmap='viridis')`</a:t>
            </a:r>
            <a:endParaRPr/>
          </a:p>
        </p:txBody>
      </p:sp>
      <p:sp>
        <p:nvSpPr>
          <p:cNvPr id="271" name="Google Shape;271;p28"/>
          <p:cNvSpPr/>
          <p:nvPr/>
        </p:nvSpPr>
        <p:spPr>
          <a:xfrm>
            <a:off x="4724400" y="1508670"/>
            <a:ext cx="4190999" cy="3135213"/>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28"/>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3mn0vu60.png" id="273" name="Google Shape;273;p28"/>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274" name="Google Shape;274;p28"/>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Interactive Plots</a:t>
            </a:r>
            <a:endParaRPr/>
          </a:p>
        </p:txBody>
      </p:sp>
      <p:sp>
        <p:nvSpPr>
          <p:cNvPr id="280" name="Google Shape;280;p2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29"/>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82" name="Google Shape;282;p29"/>
          <p:cNvSpPr/>
          <p:nvPr/>
        </p:nvSpPr>
        <p:spPr>
          <a:xfrm>
            <a:off x="228600" y="1508670"/>
            <a:ext cx="8686800"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29"/>
          <p:cNvSpPr/>
          <p:nvPr/>
        </p:nvSpPr>
        <p:spPr>
          <a:xfrm>
            <a:off x="2286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29"/>
          <p:cNvSpPr txBox="1"/>
          <p:nvPr/>
        </p:nvSpPr>
        <p:spPr>
          <a:xfrm>
            <a:off x="228600" y="1508670"/>
            <a:ext cx="4190999" cy="2963465"/>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Introduction to Interactive Plots:</a:t>
            </a:r>
            <a:r>
              <a:rPr b="0" i="0" lang="en-US" sz="1300" u="none" cap="none" strike="noStrike">
                <a:solidFill>
                  <a:srgbClr val="616161"/>
                </a:solidFill>
                <a:latin typeface="Proxima Nova"/>
                <a:ea typeface="Proxima Nova"/>
                <a:cs typeface="Proxima Nova"/>
                <a:sym typeface="Proxima Nova"/>
              </a:rPr>
              <a:t> 1. Enhancing user experience with interactive elements 2. Tools like mpld3, Plotly, and Bokeh for interactivity 3. Embedding interactive plots in web applications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Creating Interactive Plots:</a:t>
            </a:r>
            <a:r>
              <a:rPr b="0" i="0" lang="en-US" sz="1300" u="none" cap="none" strike="noStrike">
                <a:solidFill>
                  <a:srgbClr val="616161"/>
                </a:solidFill>
                <a:latin typeface="Proxima Nova"/>
                <a:ea typeface="Proxima Nova"/>
                <a:cs typeface="Proxima Nova"/>
                <a:sym typeface="Proxima Nova"/>
              </a:rPr>
              <a:t> 1. Using mpld3: `import mpld3` 2. Converting Matplotlib plots to interactive: `mpld3.show()` 3. Example: `mpld3.save_html(fig, 'interactive_plot.html')`</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Using mpld3 and Other Tools:</a:t>
            </a:r>
            <a:r>
              <a:rPr b="0" i="0" lang="en-US" sz="1300" u="none" cap="none" strike="noStrike">
                <a:solidFill>
                  <a:srgbClr val="616161"/>
                </a:solidFill>
                <a:latin typeface="Proxima Nova"/>
                <a:ea typeface="Proxima Nova"/>
                <a:cs typeface="Proxima Nova"/>
                <a:sym typeface="Proxima Nova"/>
              </a:rPr>
              <a:t> 1. mpld3 for integrating with Matplotlib 2. Plotly for advanced interactive visualizations 3. Bokeh for web-based interactive plots</a:t>
            </a:r>
            <a:endParaRPr/>
          </a:p>
        </p:txBody>
      </p:sp>
      <p:sp>
        <p:nvSpPr>
          <p:cNvPr id="285" name="Google Shape;285;p29"/>
          <p:cNvSpPr/>
          <p:nvPr/>
        </p:nvSpPr>
        <p:spPr>
          <a:xfrm>
            <a:off x="4724400" y="1508670"/>
            <a:ext cx="4190999" cy="296346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29"/>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j0bzpfa8.png" id="287" name="Google Shape;287;p29"/>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288" name="Google Shape;288;p29"/>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29"/>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Saving and Exporting Plots</a:t>
            </a:r>
            <a:endParaRPr/>
          </a:p>
        </p:txBody>
      </p:sp>
      <p:sp>
        <p:nvSpPr>
          <p:cNvPr id="295" name="Google Shape;295;p3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30"/>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297" name="Google Shape;297;p30"/>
          <p:cNvSpPr/>
          <p:nvPr/>
        </p:nvSpPr>
        <p:spPr>
          <a:xfrm>
            <a:off x="228600" y="1508670"/>
            <a:ext cx="8686800"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30"/>
          <p:cNvSpPr/>
          <p:nvPr/>
        </p:nvSpPr>
        <p:spPr>
          <a:xfrm>
            <a:off x="2286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0"/>
          <p:cNvSpPr txBox="1"/>
          <p:nvPr/>
        </p:nvSpPr>
        <p:spPr>
          <a:xfrm>
            <a:off x="228600" y="1508670"/>
            <a:ext cx="4190999" cy="3169146"/>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Different File Formats:</a:t>
            </a:r>
            <a:r>
              <a:rPr b="0" i="0" lang="en-US" sz="1300" u="none" cap="none" strike="noStrike">
                <a:solidFill>
                  <a:srgbClr val="616161"/>
                </a:solidFill>
                <a:latin typeface="Proxima Nova"/>
                <a:ea typeface="Proxima Nova"/>
                <a:cs typeface="Proxima Nova"/>
                <a:sym typeface="Proxima Nova"/>
              </a:rPr>
              <a:t> 1. Supported formats: PNG, PDF, SVG, EPS 2. Choosing the right format based on use case 3. Example: PNG for images, PDF for documents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Saving Plots:</a:t>
            </a:r>
            <a:r>
              <a:rPr b="0" i="0" lang="en-US" sz="1300" u="none" cap="none" strike="noStrike">
                <a:solidFill>
                  <a:srgbClr val="616161"/>
                </a:solidFill>
                <a:latin typeface="Proxima Nova"/>
                <a:ea typeface="Proxima Nova"/>
                <a:cs typeface="Proxima Nova"/>
                <a:sym typeface="Proxima Nova"/>
              </a:rPr>
              <a:t> 1. Using `plt.savefig('filename.png')` 2. Customizing output: `plt.savefig('filename.png', dpi=300, bbox_inches='tight')` 3. Example code snippet for saving a plot</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Exporting High-Resolution Images:</a:t>
            </a:r>
            <a:r>
              <a:rPr b="0" i="0" lang="en-US" sz="1300" u="none" cap="none" strike="noStrike">
                <a:solidFill>
                  <a:srgbClr val="616161"/>
                </a:solidFill>
                <a:latin typeface="Proxima Nova"/>
                <a:ea typeface="Proxima Nova"/>
                <a:cs typeface="Proxima Nova"/>
                <a:sym typeface="Proxima Nova"/>
              </a:rPr>
              <a:t> 1. Ensuring high resolution for publications 2. Setting DPI (dots per inch): `plt.savefig('filename.png', dpi=300)` 3. Example: `plt.savefig('high_res_plot.png', dpi=300)`</a:t>
            </a:r>
            <a:endParaRPr/>
          </a:p>
        </p:txBody>
      </p:sp>
      <p:sp>
        <p:nvSpPr>
          <p:cNvPr id="300" name="Google Shape;300;p30"/>
          <p:cNvSpPr/>
          <p:nvPr/>
        </p:nvSpPr>
        <p:spPr>
          <a:xfrm>
            <a:off x="4724400" y="1508670"/>
            <a:ext cx="4190999" cy="3169146"/>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30"/>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n804n38t.png" id="302" name="Google Shape;302;p30"/>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303" name="Google Shape;303;p30"/>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Common Pitfalls and Troubleshooting</a:t>
            </a:r>
            <a:endParaRPr/>
          </a:p>
        </p:txBody>
      </p:sp>
      <p:sp>
        <p:nvSpPr>
          <p:cNvPr id="309" name="Google Shape;309;p3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31"/>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311" name="Google Shape;311;p31"/>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31"/>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31"/>
          <p:cNvSpPr txBox="1"/>
          <p:nvPr/>
        </p:nvSpPr>
        <p:spPr>
          <a:xfrm>
            <a:off x="228600" y="1508670"/>
            <a:ext cx="4190999" cy="2140743"/>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Common Issues:</a:t>
            </a:r>
            <a:r>
              <a:rPr b="0" i="0" lang="en-US" sz="1300" u="none" cap="none" strike="noStrike">
                <a:solidFill>
                  <a:srgbClr val="616161"/>
                </a:solidFill>
                <a:latin typeface="Proxima Nova"/>
                <a:ea typeface="Proxima Nova"/>
                <a:cs typeface="Proxima Nova"/>
                <a:sym typeface="Proxima Nova"/>
              </a:rPr>
              <a:t> 1. Overlapping plots 2. Incorrect labels and titles 3. Poor plot readability</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Debugging Tips:</a:t>
            </a:r>
            <a:r>
              <a:rPr b="0" i="0" lang="en-US" sz="1300" u="none" cap="none" strike="noStrike">
                <a:solidFill>
                  <a:srgbClr val="616161"/>
                </a:solidFill>
                <a:latin typeface="Proxima Nova"/>
                <a:ea typeface="Proxima Nova"/>
                <a:cs typeface="Proxima Nova"/>
                <a:sym typeface="Proxima Nova"/>
              </a:rPr>
              <a:t> 1. Check data ranges and scales 2. Verify correct usage of functions 3. Use `plt.show()` to preview plots during development</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Best Practices:</a:t>
            </a:r>
            <a:r>
              <a:rPr b="0" i="0" lang="en-US" sz="1300" u="none" cap="none" strike="noStrike">
                <a:solidFill>
                  <a:srgbClr val="616161"/>
                </a:solidFill>
                <a:latin typeface="Proxima Nova"/>
                <a:ea typeface="Proxima Nova"/>
                <a:cs typeface="Proxima Nova"/>
                <a:sym typeface="Proxima Nova"/>
              </a:rPr>
              <a:t> 1. Keep plots simple and clear 2. Use appropriate plot types for data 3. Consistently label and title plots</a:t>
            </a:r>
            <a:endParaRPr/>
          </a:p>
        </p:txBody>
      </p:sp>
      <p:sp>
        <p:nvSpPr>
          <p:cNvPr id="314" name="Google Shape;314;p31"/>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31"/>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tmpj0bzpfa8.png" id="316" name="Google Shape;316;p31"/>
          <p:cNvPicPr preferRelativeResize="0"/>
          <p:nvPr/>
        </p:nvPicPr>
        <p:blipFill rotWithShape="1">
          <a:blip r:embed="rId3">
            <a:alphaModFix/>
          </a:blip>
          <a:srcRect b="0" l="0" r="0" t="0"/>
          <a:stretch/>
        </p:blipFill>
        <p:spPr>
          <a:xfrm>
            <a:off x="4724400" y="1508670"/>
            <a:ext cx="4190999" cy="2359372"/>
          </a:xfrm>
          <a:prstGeom prst="rect">
            <a:avLst/>
          </a:prstGeom>
          <a:noFill/>
          <a:ln>
            <a:noFill/>
          </a:ln>
        </p:spPr>
      </p:pic>
      <p:sp>
        <p:nvSpPr>
          <p:cNvPr id="317" name="Google Shape;317;p31"/>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31"/>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200"/>
              <a:buNone/>
            </a:pPr>
            <a:r>
              <a:rPr lang="en-US" sz="2200"/>
              <a:t>Real-World Examples</a:t>
            </a:r>
            <a:endParaRPr/>
          </a:p>
        </p:txBody>
      </p:sp>
      <p:sp>
        <p:nvSpPr>
          <p:cNvPr id="324" name="Google Shape;324;p3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32"/>
          <p:cNvSpPr/>
          <p:nvPr/>
        </p:nvSpPr>
        <p:spPr>
          <a:xfrm>
            <a:off x="228600" y="1508670"/>
            <a:ext cx="8686800" cy="3200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rgbClr val="616161"/>
              </a:solidFill>
              <a:latin typeface="Proxima Nova"/>
              <a:ea typeface="Proxima Nova"/>
              <a:cs typeface="Proxima Nova"/>
              <a:sym typeface="Proxima Nova"/>
            </a:endParaRPr>
          </a:p>
        </p:txBody>
      </p:sp>
      <p:sp>
        <p:nvSpPr>
          <p:cNvPr id="326" name="Google Shape;326;p32"/>
          <p:cNvSpPr/>
          <p:nvPr/>
        </p:nvSpPr>
        <p:spPr>
          <a:xfrm>
            <a:off x="228600" y="1508670"/>
            <a:ext cx="8686800"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32"/>
          <p:cNvSpPr/>
          <p:nvPr/>
        </p:nvSpPr>
        <p:spPr>
          <a:xfrm>
            <a:off x="2286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32"/>
          <p:cNvSpPr txBox="1"/>
          <p:nvPr/>
        </p:nvSpPr>
        <p:spPr>
          <a:xfrm>
            <a:off x="228600" y="1508670"/>
            <a:ext cx="4190999" cy="2552104"/>
          </a:xfrm>
          <a:prstGeom prst="rect">
            <a:avLst/>
          </a:prstGeom>
          <a:noFill/>
          <a:ln>
            <a:noFill/>
          </a:ln>
        </p:spPr>
        <p:txBody>
          <a:bodyPr anchorCtr="0" anchor="t" bIns="190500" lIns="190500" spcFirstLastPara="1" rIns="0" wrap="square" tIns="0">
            <a:spAutoFit/>
          </a:bodyPr>
          <a:lstStyle/>
          <a:p>
            <a:pPr indent="-9144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Example 1: Data Analysis:</a:t>
            </a:r>
            <a:r>
              <a:rPr b="0" i="0" lang="en-US" sz="1300" u="none" cap="none" strike="noStrike">
                <a:solidFill>
                  <a:srgbClr val="616161"/>
                </a:solidFill>
                <a:latin typeface="Proxima Nova"/>
                <a:ea typeface="Proxima Nova"/>
                <a:cs typeface="Proxima Nova"/>
                <a:sym typeface="Proxima Nova"/>
              </a:rPr>
              <a:t> 1. Visualizing sales data over time 2. Identifying trends and outliers 3. Tools: Line charts, bar charts</a:t>
            </a:r>
            <a:endParaRPr/>
          </a:p>
          <a:p>
            <a:pPr indent="-91440" lvl="1" marL="228600" marR="0" rtl="0" algn="l">
              <a:lnSpc>
                <a:spcPct val="100000"/>
              </a:lnSpc>
              <a:spcBef>
                <a:spcPts val="20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Example 2: Financial Data Visualization:</a:t>
            </a:r>
            <a:r>
              <a:rPr b="0" i="0" lang="en-US" sz="1300" u="none" cap="none" strike="noStrike">
                <a:solidFill>
                  <a:srgbClr val="616161"/>
                </a:solidFill>
                <a:latin typeface="Proxima Nova"/>
                <a:ea typeface="Proxima Nova"/>
                <a:cs typeface="Proxima Nova"/>
                <a:sym typeface="Proxima Nova"/>
              </a:rPr>
              <a:t> 1. Comparing stock performance 2. Visualizing financial metrics 3. Tools: Candlestick charts, histograms</a:t>
            </a:r>
            <a:endParaRPr/>
          </a:p>
          <a:p>
            <a:pPr indent="-91440" lvl="1" marL="228600" marR="0" rtl="0" algn="l">
              <a:lnSpc>
                <a:spcPct val="100000"/>
              </a:lnSpc>
              <a:spcBef>
                <a:spcPts val="1200"/>
              </a:spcBef>
              <a:spcAft>
                <a:spcPts val="0"/>
              </a:spcAft>
              <a:buClr>
                <a:srgbClr val="000000"/>
              </a:buClr>
              <a:buSzPts val="1300"/>
              <a:buFont typeface="Arial"/>
              <a:buChar char="•"/>
            </a:pPr>
            <a:r>
              <a:rPr b="1" i="0" lang="en-US" sz="1300" u="none" cap="none" strike="noStrike">
                <a:solidFill>
                  <a:srgbClr val="616161"/>
                </a:solidFill>
                <a:latin typeface="Proxima Nova"/>
                <a:ea typeface="Proxima Nova"/>
                <a:cs typeface="Proxima Nova"/>
                <a:sym typeface="Proxima Nova"/>
              </a:rPr>
              <a:t>Example 3: Scientific Research:</a:t>
            </a:r>
            <a:r>
              <a:rPr b="0" i="0" lang="en-US" sz="1300" u="none" cap="none" strike="noStrike">
                <a:solidFill>
                  <a:srgbClr val="616161"/>
                </a:solidFill>
                <a:latin typeface="Proxima Nova"/>
                <a:ea typeface="Proxima Nova"/>
                <a:cs typeface="Proxima Nova"/>
                <a:sym typeface="Proxima Nova"/>
              </a:rPr>
              <a:t> 1. Analyzing experimental data 2. Visualizing distributions and correlations 3. Tools: Scatter plots, box plots</a:t>
            </a:r>
            <a:endParaRPr/>
          </a:p>
        </p:txBody>
      </p:sp>
      <p:sp>
        <p:nvSpPr>
          <p:cNvPr id="329" name="Google Shape;329;p32"/>
          <p:cNvSpPr/>
          <p:nvPr/>
        </p:nvSpPr>
        <p:spPr>
          <a:xfrm>
            <a:off x="4724400" y="1508670"/>
            <a:ext cx="4190999" cy="2587972"/>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32"/>
          <p:cNvSpPr txBox="1"/>
          <p:nvPr/>
        </p:nvSpPr>
        <p:spPr>
          <a:xfrm>
            <a:off x="4724400" y="1508670"/>
            <a:ext cx="4190999" cy="23593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31" name="Google Shape;331;p32"/>
          <p:cNvPicPr preferRelativeResize="0"/>
          <p:nvPr/>
        </p:nvPicPr>
        <p:blipFill rotWithShape="1">
          <a:blip r:embed="rId3">
            <a:alphaModFix/>
          </a:blip>
          <a:srcRect b="10461" l="0" r="0" t="10469"/>
          <a:stretch/>
        </p:blipFill>
        <p:spPr>
          <a:xfrm>
            <a:off x="4724400" y="1508670"/>
            <a:ext cx="4191000" cy="2359373"/>
          </a:xfrm>
          <a:prstGeom prst="rect">
            <a:avLst/>
          </a:prstGeom>
          <a:noFill/>
          <a:ln>
            <a:noFill/>
          </a:ln>
        </p:spPr>
      </p:pic>
      <p:sp>
        <p:nvSpPr>
          <p:cNvPr id="332" name="Google Shape;332;p32"/>
          <p:cNvSpPr/>
          <p:nvPr/>
        </p:nvSpPr>
        <p:spPr>
          <a:xfrm>
            <a:off x="4724400" y="3944242"/>
            <a:ext cx="4190999" cy="152400"/>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32"/>
          <p:cNvSpPr txBox="1"/>
          <p:nvPr/>
        </p:nvSpPr>
        <p:spPr>
          <a:xfrm>
            <a:off x="4724400" y="3944242"/>
            <a:ext cx="4191000" cy="215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