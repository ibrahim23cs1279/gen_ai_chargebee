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roxima Nova"/>
      <p:regular r:id="rId15"/>
      <p:bold r:id="rId16"/>
      <p:italic r:id="rId17"/>
      <p:boldItalic r:id="rId18"/>
    </p:embeddedFont>
    <p:embeddedFont>
      <p:font typeface="Proxima Nova Semibold"/>
      <p:regular r:id="rId19"/>
      <p:bold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Semibold-bold.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ProximaNovaSemibold-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roximaNova-regular.fntdata"/><Relationship Id="rId14" Type="http://schemas.openxmlformats.org/officeDocument/2006/relationships/slide" Target="slides/slide9.xml"/><Relationship Id="rId17" Type="http://schemas.openxmlformats.org/officeDocument/2006/relationships/font" Target="fonts/ProximaNova-italic.fntdata"/><Relationship Id="rId16" Type="http://schemas.openxmlformats.org/officeDocument/2006/relationships/font" Target="fonts/ProximaNova-bold.fntdata"/><Relationship Id="rId5" Type="http://schemas.openxmlformats.org/officeDocument/2006/relationships/notesMaster" Target="notesMasters/notesMaster1.xml"/><Relationship Id="rId19" Type="http://schemas.openxmlformats.org/officeDocument/2006/relationships/font" Target="fonts/ProximaNovaSemibold-regular.fntdata"/><Relationship Id="rId6" Type="http://schemas.openxmlformats.org/officeDocument/2006/relationships/slide" Target="slides/slide1.xml"/><Relationship Id="rId18" Type="http://schemas.openxmlformats.org/officeDocument/2006/relationships/font" Target="fonts/ProximaNova-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AND_BODY_1">
    <p:spTree>
      <p:nvGrpSpPr>
        <p:cNvPr id="9" name="Shape 9"/>
        <p:cNvGrpSpPr/>
        <p:nvPr/>
      </p:nvGrpSpPr>
      <p:grpSpPr>
        <a:xfrm>
          <a:off x="0" y="0"/>
          <a:ext cx="0" cy="0"/>
          <a:chOff x="0" y="0"/>
          <a:chExt cx="0" cy="0"/>
        </a:xfrm>
      </p:grpSpPr>
      <p:sp>
        <p:nvSpPr>
          <p:cNvPr id="10" name="Google Shape;10;p2"/>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 name="Google Shape;12;p2"/>
          <p:cNvSpPr txBox="1"/>
          <p:nvPr>
            <p:ph idx="1" type="body"/>
          </p:nvPr>
        </p:nvSpPr>
        <p:spPr>
          <a:xfrm>
            <a:off x="311700" y="695275"/>
            <a:ext cx="8520600" cy="34164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7" name="Google Shape;17;p3"/>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8" name="Shape 18"/>
        <p:cNvGrpSpPr/>
        <p:nvPr/>
      </p:nvGrpSpPr>
      <p:grpSpPr>
        <a:xfrm>
          <a:off x="0" y="0"/>
          <a:ext cx="0" cy="0"/>
          <a:chOff x="0" y="0"/>
          <a:chExt cx="0" cy="0"/>
        </a:xfrm>
      </p:grpSpPr>
      <p:cxnSp>
        <p:nvCxnSpPr>
          <p:cNvPr id="19" name="Google Shape;19;p4"/>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20" name="Google Shape;20;p4"/>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1" name="Google Shape;21;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5"/>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5"/>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5"/>
          <p:cNvSpPr txBox="1"/>
          <p:nvPr>
            <p:ph idx="1" type="body"/>
          </p:nvPr>
        </p:nvSpPr>
        <p:spPr>
          <a:xfrm>
            <a:off x="311700" y="1304875"/>
            <a:ext cx="8520600" cy="34164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 name="Google Shape;26;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
        <p:nvSpPr>
          <p:cNvPr id="27" name="Google Shape;27;p5"/>
          <p:cNvSpPr txBox="1"/>
          <p:nvPr>
            <p:ph idx="2" type="subTitle"/>
          </p:nvPr>
        </p:nvSpPr>
        <p:spPr>
          <a:xfrm>
            <a:off x="387975" y="789025"/>
            <a:ext cx="8520600" cy="8331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500"/>
              <a:buNone/>
              <a:defRPr sz="15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6"/>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6"/>
          <p:cNvSpPr txBox="1"/>
          <p:nvPr>
            <p:ph idx="1" type="body"/>
          </p:nvPr>
        </p:nvSpPr>
        <p:spPr>
          <a:xfrm>
            <a:off x="311700" y="13810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6"/>
          <p:cNvSpPr txBox="1"/>
          <p:nvPr>
            <p:ph idx="2" type="body"/>
          </p:nvPr>
        </p:nvSpPr>
        <p:spPr>
          <a:xfrm>
            <a:off x="4832400" y="13048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
        <p:nvSpPr>
          <p:cNvPr id="33" name="Google Shape;33;p6"/>
          <p:cNvSpPr txBox="1"/>
          <p:nvPr>
            <p:ph idx="3" type="subTitle"/>
          </p:nvPr>
        </p:nvSpPr>
        <p:spPr>
          <a:xfrm>
            <a:off x="386975" y="864000"/>
            <a:ext cx="8368200" cy="84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None/>
              <a:defRPr sz="1500"/>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34" name="Google Shape;34;p6"/>
          <p:cNvSpPr txBox="1"/>
          <p:nvPr>
            <p:ph idx="4" type="body"/>
          </p:nvPr>
        </p:nvSpPr>
        <p:spPr>
          <a:xfrm>
            <a:off x="4813725" y="3822525"/>
            <a:ext cx="3999900" cy="208200"/>
          </a:xfrm>
          <a:prstGeom prst="rect">
            <a:avLst/>
          </a:prstGeom>
          <a:noFill/>
          <a:ln>
            <a:noFill/>
          </a:ln>
        </p:spPr>
        <p:txBody>
          <a:bodyPr anchorCtr="0" anchor="t" bIns="91425" lIns="91425" spcFirstLastPara="1" rIns="91425" wrap="square" tIns="91425">
            <a:normAutofit/>
          </a:bodyPr>
          <a:lstStyle>
            <a:lvl1pPr indent="-273050" lvl="0" marL="457200" algn="r">
              <a:lnSpc>
                <a:spcPct val="115000"/>
              </a:lnSpc>
              <a:spcBef>
                <a:spcPts val="0"/>
              </a:spcBef>
              <a:spcAft>
                <a:spcPts val="0"/>
              </a:spcAft>
              <a:buSzPts val="700"/>
              <a:buChar char="●"/>
              <a:defRPr sz="700"/>
            </a:lvl1pPr>
            <a:lvl2pPr indent="-260350" lvl="1" marL="914400" algn="r">
              <a:lnSpc>
                <a:spcPct val="115000"/>
              </a:lnSpc>
              <a:spcBef>
                <a:spcPts val="0"/>
              </a:spcBef>
              <a:spcAft>
                <a:spcPts val="0"/>
              </a:spcAft>
              <a:buSzPts val="500"/>
              <a:buChar char="○"/>
              <a:defRPr sz="500"/>
            </a:lvl2pPr>
            <a:lvl3pPr indent="-260350" lvl="2" marL="1371600" algn="r">
              <a:lnSpc>
                <a:spcPct val="115000"/>
              </a:lnSpc>
              <a:spcBef>
                <a:spcPts val="0"/>
              </a:spcBef>
              <a:spcAft>
                <a:spcPts val="0"/>
              </a:spcAft>
              <a:buSzPts val="500"/>
              <a:buChar char="■"/>
              <a:defRPr sz="500"/>
            </a:lvl3pPr>
            <a:lvl4pPr indent="-260350" lvl="3" marL="1828800" algn="r">
              <a:lnSpc>
                <a:spcPct val="115000"/>
              </a:lnSpc>
              <a:spcBef>
                <a:spcPts val="0"/>
              </a:spcBef>
              <a:spcAft>
                <a:spcPts val="0"/>
              </a:spcAft>
              <a:buSzPts val="500"/>
              <a:buChar char="●"/>
              <a:defRPr sz="500"/>
            </a:lvl4pPr>
            <a:lvl5pPr indent="-260350" lvl="4" marL="2286000" algn="r">
              <a:lnSpc>
                <a:spcPct val="115000"/>
              </a:lnSpc>
              <a:spcBef>
                <a:spcPts val="0"/>
              </a:spcBef>
              <a:spcAft>
                <a:spcPts val="0"/>
              </a:spcAft>
              <a:buSzPts val="500"/>
              <a:buChar char="○"/>
              <a:defRPr sz="500"/>
            </a:lvl5pPr>
            <a:lvl6pPr indent="-260350" lvl="5" marL="2743200" algn="r">
              <a:lnSpc>
                <a:spcPct val="115000"/>
              </a:lnSpc>
              <a:spcBef>
                <a:spcPts val="0"/>
              </a:spcBef>
              <a:spcAft>
                <a:spcPts val="0"/>
              </a:spcAft>
              <a:buSzPts val="500"/>
              <a:buChar char="■"/>
              <a:defRPr sz="500"/>
            </a:lvl6pPr>
            <a:lvl7pPr indent="-260350" lvl="6" marL="3200400" algn="r">
              <a:lnSpc>
                <a:spcPct val="115000"/>
              </a:lnSpc>
              <a:spcBef>
                <a:spcPts val="0"/>
              </a:spcBef>
              <a:spcAft>
                <a:spcPts val="0"/>
              </a:spcAft>
              <a:buSzPts val="500"/>
              <a:buChar char="●"/>
              <a:defRPr sz="500"/>
            </a:lvl7pPr>
            <a:lvl8pPr indent="-260350" lvl="7" marL="3657600" algn="r">
              <a:lnSpc>
                <a:spcPct val="115000"/>
              </a:lnSpc>
              <a:spcBef>
                <a:spcPts val="0"/>
              </a:spcBef>
              <a:spcAft>
                <a:spcPts val="0"/>
              </a:spcAft>
              <a:buSzPts val="500"/>
              <a:buChar char="○"/>
              <a:defRPr sz="500"/>
            </a:lvl8pPr>
            <a:lvl9pPr indent="-260350" lvl="8" marL="4114800" algn="r">
              <a:lnSpc>
                <a:spcPct val="115000"/>
              </a:lnSpc>
              <a:spcBef>
                <a:spcPts val="0"/>
              </a:spcBef>
              <a:spcAft>
                <a:spcPts val="0"/>
              </a:spcAft>
              <a:buSzPts val="500"/>
              <a:buChar char="■"/>
              <a:defRPr sz="5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2" name="Shape 42"/>
        <p:cNvGrpSpPr/>
        <p:nvPr/>
      </p:nvGrpSpPr>
      <p:grpSpPr>
        <a:xfrm>
          <a:off x="0" y="0"/>
          <a:ext cx="0" cy="0"/>
          <a:chOff x="0" y="0"/>
          <a:chExt cx="0" cy="0"/>
        </a:xfrm>
      </p:grpSpPr>
      <p:sp>
        <p:nvSpPr>
          <p:cNvPr id="43" name="Google Shape;43;p9"/>
          <p:cNvSpPr txBox="1"/>
          <p:nvPr>
            <p:ph type="title"/>
          </p:nvPr>
        </p:nvSpPr>
        <p:spPr>
          <a:xfrm>
            <a:off x="490250" y="526350"/>
            <a:ext cx="57975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4" name="Google Shape;4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cxnSp>
        <p:nvCxnSpPr>
          <p:cNvPr id="46" name="Google Shape;46;p10"/>
          <p:cNvCxnSpPr/>
          <p:nvPr/>
        </p:nvCxnSpPr>
        <p:spPr>
          <a:xfrm>
            <a:off x="5029675" y="4495500"/>
            <a:ext cx="468300" cy="0"/>
          </a:xfrm>
          <a:prstGeom prst="straightConnector1">
            <a:avLst/>
          </a:prstGeom>
          <a:noFill/>
          <a:ln cap="flat" cmpd="sng" w="19050">
            <a:solidFill>
              <a:schemeClr val="dk1"/>
            </a:solidFill>
            <a:prstDash val="solid"/>
            <a:round/>
            <a:headEnd len="sm" w="sm" type="none"/>
            <a:tailEnd len="sm" w="sm" type="none"/>
          </a:ln>
        </p:spPr>
      </p:cxnSp>
      <p:sp>
        <p:nvSpPr>
          <p:cNvPr id="47" name="Google Shape;4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
        <p:nvSpPr>
          <p:cNvPr id="48" name="Google Shape;48;p10"/>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9" name="Google Shape;49;p10"/>
          <p:cNvSpPr txBox="1"/>
          <p:nvPr>
            <p:ph idx="1" type="body"/>
          </p:nvPr>
        </p:nvSpPr>
        <p:spPr>
          <a:xfrm>
            <a:off x="311700" y="13048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 name="Google Shape;50;p10"/>
          <p:cNvSpPr txBox="1"/>
          <p:nvPr>
            <p:ph idx="2" type="body"/>
          </p:nvPr>
        </p:nvSpPr>
        <p:spPr>
          <a:xfrm>
            <a:off x="4832400" y="13048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1" name="Google Shape;51;p10"/>
          <p:cNvSpPr txBox="1"/>
          <p:nvPr>
            <p:ph idx="3" type="subTitle"/>
          </p:nvPr>
        </p:nvSpPr>
        <p:spPr>
          <a:xfrm>
            <a:off x="386975" y="787800"/>
            <a:ext cx="8368200" cy="84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None/>
              <a:defRPr sz="1500"/>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52" name="Google Shape;52;p10"/>
          <p:cNvSpPr txBox="1"/>
          <p:nvPr>
            <p:ph idx="4" type="body"/>
          </p:nvPr>
        </p:nvSpPr>
        <p:spPr>
          <a:xfrm>
            <a:off x="4813725" y="3822525"/>
            <a:ext cx="3999900" cy="208200"/>
          </a:xfrm>
          <a:prstGeom prst="rect">
            <a:avLst/>
          </a:prstGeom>
          <a:noFill/>
          <a:ln>
            <a:noFill/>
          </a:ln>
        </p:spPr>
        <p:txBody>
          <a:bodyPr anchorCtr="0" anchor="t" bIns="91425" lIns="91425" spcFirstLastPara="1" rIns="91425" wrap="square" tIns="91425">
            <a:normAutofit/>
          </a:bodyPr>
          <a:lstStyle>
            <a:lvl1pPr indent="-273050" lvl="0" marL="457200" algn="r">
              <a:lnSpc>
                <a:spcPct val="115000"/>
              </a:lnSpc>
              <a:spcBef>
                <a:spcPts val="0"/>
              </a:spcBef>
              <a:spcAft>
                <a:spcPts val="0"/>
              </a:spcAft>
              <a:buSzPts val="700"/>
              <a:buChar char="●"/>
              <a:defRPr sz="700"/>
            </a:lvl1pPr>
            <a:lvl2pPr indent="-260350" lvl="1" marL="914400" algn="r">
              <a:lnSpc>
                <a:spcPct val="115000"/>
              </a:lnSpc>
              <a:spcBef>
                <a:spcPts val="0"/>
              </a:spcBef>
              <a:spcAft>
                <a:spcPts val="0"/>
              </a:spcAft>
              <a:buSzPts val="500"/>
              <a:buChar char="○"/>
              <a:defRPr sz="500"/>
            </a:lvl2pPr>
            <a:lvl3pPr indent="-260350" lvl="2" marL="1371600" algn="r">
              <a:lnSpc>
                <a:spcPct val="115000"/>
              </a:lnSpc>
              <a:spcBef>
                <a:spcPts val="0"/>
              </a:spcBef>
              <a:spcAft>
                <a:spcPts val="0"/>
              </a:spcAft>
              <a:buSzPts val="500"/>
              <a:buChar char="■"/>
              <a:defRPr sz="500"/>
            </a:lvl3pPr>
            <a:lvl4pPr indent="-260350" lvl="3" marL="1828800" algn="r">
              <a:lnSpc>
                <a:spcPct val="115000"/>
              </a:lnSpc>
              <a:spcBef>
                <a:spcPts val="0"/>
              </a:spcBef>
              <a:spcAft>
                <a:spcPts val="0"/>
              </a:spcAft>
              <a:buSzPts val="500"/>
              <a:buChar char="●"/>
              <a:defRPr sz="500"/>
            </a:lvl4pPr>
            <a:lvl5pPr indent="-260350" lvl="4" marL="2286000" algn="r">
              <a:lnSpc>
                <a:spcPct val="115000"/>
              </a:lnSpc>
              <a:spcBef>
                <a:spcPts val="0"/>
              </a:spcBef>
              <a:spcAft>
                <a:spcPts val="0"/>
              </a:spcAft>
              <a:buSzPts val="500"/>
              <a:buChar char="○"/>
              <a:defRPr sz="500"/>
            </a:lvl5pPr>
            <a:lvl6pPr indent="-260350" lvl="5" marL="2743200" algn="r">
              <a:lnSpc>
                <a:spcPct val="115000"/>
              </a:lnSpc>
              <a:spcBef>
                <a:spcPts val="0"/>
              </a:spcBef>
              <a:spcAft>
                <a:spcPts val="0"/>
              </a:spcAft>
              <a:buSzPts val="500"/>
              <a:buChar char="■"/>
              <a:defRPr sz="500"/>
            </a:lvl6pPr>
            <a:lvl7pPr indent="-260350" lvl="6" marL="3200400" algn="r">
              <a:lnSpc>
                <a:spcPct val="115000"/>
              </a:lnSpc>
              <a:spcBef>
                <a:spcPts val="0"/>
              </a:spcBef>
              <a:spcAft>
                <a:spcPts val="0"/>
              </a:spcAft>
              <a:buSzPts val="500"/>
              <a:buChar char="●"/>
              <a:defRPr sz="500"/>
            </a:lvl7pPr>
            <a:lvl8pPr indent="-260350" lvl="7" marL="3657600" algn="r">
              <a:lnSpc>
                <a:spcPct val="115000"/>
              </a:lnSpc>
              <a:spcBef>
                <a:spcPts val="0"/>
              </a:spcBef>
              <a:spcAft>
                <a:spcPts val="0"/>
              </a:spcAft>
              <a:buSzPts val="500"/>
              <a:buChar char="○"/>
              <a:defRPr sz="500"/>
            </a:lvl8pPr>
            <a:lvl9pPr indent="-260350" lvl="8" marL="4114800" algn="r">
              <a:lnSpc>
                <a:spcPct val="115000"/>
              </a:lnSpc>
              <a:spcBef>
                <a:spcPts val="0"/>
              </a:spcBef>
              <a:spcAft>
                <a:spcPts val="0"/>
              </a:spcAft>
              <a:buSzPts val="500"/>
              <a:buChar char="■"/>
              <a:defRPr sz="500"/>
            </a:lvl9pPr>
          </a:lstStyle>
          <a:p/>
        </p:txBody>
      </p:sp>
      <p:sp>
        <p:nvSpPr>
          <p:cNvPr id="53" name="Google Shape;53;p10"/>
          <p:cNvSpPr txBox="1"/>
          <p:nvPr>
            <p:ph idx="5"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1"/>
          <p:cNvSpPr txBox="1"/>
          <p:nvPr>
            <p:ph idx="1" type="body"/>
          </p:nvPr>
        </p:nvSpPr>
        <p:spPr>
          <a:xfrm>
            <a:off x="311700" y="42368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None/>
              <a:defRPr sz="2100"/>
            </a:lvl1pPr>
          </a:lstStyle>
          <a:p/>
        </p:txBody>
      </p:sp>
      <p:sp>
        <p:nvSpPr>
          <p:cNvPr id="56" name="Google Shape;5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 name="Shape 57"/>
        <p:cNvGrpSpPr/>
        <p:nvPr/>
      </p:nvGrpSpPr>
      <p:grpSpPr>
        <a:xfrm>
          <a:off x="0" y="0"/>
          <a:ext cx="0" cy="0"/>
          <a:chOff x="0" y="0"/>
          <a:chExt cx="0" cy="0"/>
        </a:xfrm>
      </p:grpSpPr>
      <p:sp>
        <p:nvSpPr>
          <p:cNvPr id="58" name="Google Shape;58;p12"/>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2"/>
          <p:cNvSpPr txBox="1"/>
          <p:nvPr>
            <p:ph hasCustomPrompt="1" type="title"/>
          </p:nvPr>
        </p:nvSpPr>
        <p:spPr>
          <a:xfrm>
            <a:off x="311700" y="991475"/>
            <a:ext cx="8520600" cy="1917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14000"/>
              <a:buNone/>
              <a:defRPr b="1" sz="14000"/>
            </a:lvl1pPr>
            <a:lvl2pPr lvl="1" algn="ctr">
              <a:lnSpc>
                <a:spcPct val="100000"/>
              </a:lnSpc>
              <a:spcBef>
                <a:spcPts val="0"/>
              </a:spcBef>
              <a:spcAft>
                <a:spcPts val="0"/>
              </a:spcAft>
              <a:buSzPts val="14000"/>
              <a:buNone/>
              <a:defRPr b="1" sz="14000"/>
            </a:lvl2pPr>
            <a:lvl3pPr lvl="2" algn="ctr">
              <a:lnSpc>
                <a:spcPct val="100000"/>
              </a:lnSpc>
              <a:spcBef>
                <a:spcPts val="0"/>
              </a:spcBef>
              <a:spcAft>
                <a:spcPts val="0"/>
              </a:spcAft>
              <a:buSzPts val="14000"/>
              <a:buNone/>
              <a:defRPr b="1" sz="14000"/>
            </a:lvl3pPr>
            <a:lvl4pPr lvl="3" algn="ctr">
              <a:lnSpc>
                <a:spcPct val="100000"/>
              </a:lnSpc>
              <a:spcBef>
                <a:spcPts val="0"/>
              </a:spcBef>
              <a:spcAft>
                <a:spcPts val="0"/>
              </a:spcAft>
              <a:buSzPts val="14000"/>
              <a:buNone/>
              <a:defRPr b="1" sz="14000"/>
            </a:lvl4pPr>
            <a:lvl5pPr lvl="4" algn="ctr">
              <a:lnSpc>
                <a:spcPct val="100000"/>
              </a:lnSpc>
              <a:spcBef>
                <a:spcPts val="0"/>
              </a:spcBef>
              <a:spcAft>
                <a:spcPts val="0"/>
              </a:spcAft>
              <a:buSzPts val="14000"/>
              <a:buNone/>
              <a:defRPr b="1" sz="14000"/>
            </a:lvl5pPr>
            <a:lvl6pPr lvl="5" algn="ctr">
              <a:lnSpc>
                <a:spcPct val="100000"/>
              </a:lnSpc>
              <a:spcBef>
                <a:spcPts val="0"/>
              </a:spcBef>
              <a:spcAft>
                <a:spcPts val="0"/>
              </a:spcAft>
              <a:buSzPts val="14000"/>
              <a:buNone/>
              <a:defRPr b="1" sz="14000"/>
            </a:lvl6pPr>
            <a:lvl7pPr lvl="6" algn="ctr">
              <a:lnSpc>
                <a:spcPct val="100000"/>
              </a:lnSpc>
              <a:spcBef>
                <a:spcPts val="0"/>
              </a:spcBef>
              <a:spcAft>
                <a:spcPts val="0"/>
              </a:spcAft>
              <a:buSzPts val="14000"/>
              <a:buNone/>
              <a:defRPr b="1" sz="14000"/>
            </a:lvl7pPr>
            <a:lvl8pPr lvl="7" algn="ctr">
              <a:lnSpc>
                <a:spcPct val="100000"/>
              </a:lnSpc>
              <a:spcBef>
                <a:spcPts val="0"/>
              </a:spcBef>
              <a:spcAft>
                <a:spcPts val="0"/>
              </a:spcAft>
              <a:buSzPts val="14000"/>
              <a:buNone/>
              <a:defRPr b="1" sz="14000"/>
            </a:lvl8pPr>
            <a:lvl9pPr lvl="8" algn="ctr">
              <a:lnSpc>
                <a:spcPct val="100000"/>
              </a:lnSpc>
              <a:spcBef>
                <a:spcPts val="0"/>
              </a:spcBef>
              <a:spcAft>
                <a:spcPts val="0"/>
              </a:spcAft>
              <a:buSzPts val="14000"/>
              <a:buNone/>
              <a:defRPr b="1" sz="14000"/>
            </a:lvl9pPr>
          </a:lstStyle>
          <a:p>
            <a:r>
              <a:t>xx%</a:t>
            </a:r>
          </a:p>
        </p:txBody>
      </p:sp>
      <p:sp>
        <p:nvSpPr>
          <p:cNvPr id="60" name="Google Shape;60;p12"/>
          <p:cNvSpPr txBox="1"/>
          <p:nvPr>
            <p:ph idx="1" type="body"/>
          </p:nvPr>
        </p:nvSpPr>
        <p:spPr>
          <a:xfrm>
            <a:off x="311700" y="3071300"/>
            <a:ext cx="8520600" cy="901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1" name="Google Shape;61;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2pPr>
            <a:lvl3pPr lvl="2"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3pPr>
            <a:lvl4pPr lvl="3"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4pPr>
            <a:lvl5pPr lvl="4"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5pPr>
            <a:lvl6pPr lvl="5"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6pPr>
            <a:lvl7pPr lvl="6"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7pPr>
            <a:lvl8pPr lvl="7"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8pPr>
            <a:lvl9pPr lvl="8"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accent3"/>
              </a:buClr>
              <a:buSzPts val="1800"/>
              <a:buFont typeface="Proxima Nova"/>
              <a:buChar char="●"/>
              <a:defRPr b="0" i="0" sz="1800" u="none" cap="none" strike="noStrike">
                <a:solidFill>
                  <a:schemeClr val="accent3"/>
                </a:solidFill>
                <a:latin typeface="Proxima Nova"/>
                <a:ea typeface="Proxima Nova"/>
                <a:cs typeface="Proxima Nova"/>
                <a:sym typeface="Proxima Nova"/>
              </a:defRPr>
            </a:lvl1pPr>
            <a:lvl2pPr indent="-317500" lvl="1" marL="9144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2pPr>
            <a:lvl3pPr indent="-317500" lvl="2" marL="13716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3pPr>
            <a:lvl4pPr indent="-317500" lvl="3" marL="18288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4pPr>
            <a:lvl5pPr indent="-317500" lvl="4" marL="22860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5pPr>
            <a:lvl6pPr indent="-317500" lvl="5" marL="27432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6pPr>
            <a:lvl7pPr indent="-317500" lvl="6" marL="32004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7pPr>
            <a:lvl8pPr indent="-317500" lvl="7" marL="36576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8pPr>
            <a:lvl9pPr indent="-317500" lvl="8" marL="41148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Introduction to Supervised Learning</a:t>
            </a:r>
            <a:endParaRPr/>
          </a:p>
        </p:txBody>
      </p:sp>
      <p:sp>
        <p:nvSpPr>
          <p:cNvPr id="69" name="Google Shape;69;p14"/>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 name="Google Shape;70;p14"/>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71" name="Google Shape;71;p14"/>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 name="Google Shape;72;p14"/>
          <p:cNvSpPr txBox="1"/>
          <p:nvPr/>
        </p:nvSpPr>
        <p:spPr>
          <a:xfrm>
            <a:off x="228600" y="771245"/>
            <a:ext cx="8686800" cy="4319700"/>
          </a:xfrm>
          <a:prstGeom prst="rect">
            <a:avLst/>
          </a:prstGeom>
          <a:noFill/>
          <a:ln>
            <a:noFill/>
          </a:ln>
        </p:spPr>
        <p:txBody>
          <a:bodyPr anchorCtr="0" anchor="t" bIns="190500" lIns="190500" spcFirstLastPara="1" rIns="0" wrap="square" tIns="0">
            <a:spAutoFit/>
          </a:bodyPr>
          <a:lstStyle/>
          <a:p>
            <a:pPr indent="-85090" lvl="0" marL="228600" marR="0" rtl="0" algn="l">
              <a:lnSpc>
                <a:spcPct val="100000"/>
              </a:lnSpc>
              <a:spcBef>
                <a:spcPts val="0"/>
              </a:spcBef>
              <a:spcAft>
                <a:spcPts val="0"/>
              </a:spcAft>
              <a:buSzPts val="1200"/>
              <a:buFont typeface="Arial"/>
              <a:buChar char="•"/>
            </a:pPr>
            <a:r>
              <a:rPr b="1" i="0" lang="en-US" sz="1200" u="none" cap="none" strike="noStrike">
                <a:latin typeface="Proxima Nova"/>
                <a:ea typeface="Proxima Nova"/>
                <a:cs typeface="Proxima Nova"/>
                <a:sym typeface="Proxima Nova"/>
              </a:rPr>
              <a:t>Definition:</a:t>
            </a:r>
            <a:r>
              <a:rPr lang="en-US" sz="1200">
                <a:latin typeface="Proxima Nova"/>
                <a:ea typeface="Proxima Nova"/>
                <a:cs typeface="Proxima Nova"/>
                <a:sym typeface="Proxima Nova"/>
              </a:rPr>
              <a:t>Supervised learning is a type of machine learning where the model learns from labeled training data. In supervised learning, the dataset is composed of input-output pairs, where the input data is typically represented as features or attributes, and the output, known as the label or target, is the desired prediction or classification.</a:t>
            </a:r>
            <a:endParaRPr sz="1200">
              <a:latin typeface="Proxima Nova"/>
              <a:ea typeface="Proxima Nova"/>
              <a:cs typeface="Proxima Nova"/>
              <a:sym typeface="Proxima Nova"/>
            </a:endParaRPr>
          </a:p>
          <a:p>
            <a:pPr indent="-85090" lvl="1" marL="228600" marR="0" rtl="0" algn="l">
              <a:lnSpc>
                <a:spcPct val="100000"/>
              </a:lnSpc>
              <a:spcBef>
                <a:spcPts val="2000"/>
              </a:spcBef>
              <a:spcAft>
                <a:spcPts val="0"/>
              </a:spcAft>
              <a:buClr>
                <a:srgbClr val="000000"/>
              </a:buClr>
              <a:buSzPts val="1200"/>
              <a:buFont typeface="Arial"/>
              <a:buChar char="•"/>
            </a:pPr>
            <a:r>
              <a:rPr i="0" lang="en-US" sz="1200" u="none" cap="none" strike="noStrike">
                <a:latin typeface="Proxima Nova Semibold"/>
                <a:ea typeface="Proxima Nova Semibold"/>
                <a:cs typeface="Proxima Nova Semibold"/>
                <a:sym typeface="Proxima Nova Semibold"/>
              </a:rPr>
              <a:t>Goal:</a:t>
            </a:r>
            <a:r>
              <a:rPr i="0" lang="en-US" sz="1200" u="none" cap="none" strike="noStrike">
                <a:solidFill>
                  <a:srgbClr val="616161"/>
                </a:solidFill>
                <a:latin typeface="Proxima Nova"/>
                <a:ea typeface="Proxima Nova"/>
                <a:cs typeface="Proxima Nova"/>
                <a:sym typeface="Proxima Nova"/>
              </a:rPr>
              <a:t> </a:t>
            </a:r>
            <a:r>
              <a:rPr lang="en-US" sz="1200">
                <a:latin typeface="Proxima Nova"/>
                <a:ea typeface="Proxima Nova"/>
                <a:cs typeface="Proxima Nova"/>
                <a:sym typeface="Proxima Nova"/>
              </a:rPr>
              <a:t>The goal of supervised learning is to train a model on a labeled dataset, where each input is associated with a corresponding target output. The main objectives include:</a:t>
            </a:r>
            <a:endParaRPr sz="1200">
              <a:latin typeface="Proxima Nova"/>
              <a:ea typeface="Proxima Nova"/>
              <a:cs typeface="Proxima Nova"/>
              <a:sym typeface="Proxima Nova"/>
            </a:endParaRPr>
          </a:p>
          <a:p>
            <a:pPr indent="-304800" lvl="0" marL="457200" rtl="0" algn="l">
              <a:lnSpc>
                <a:spcPct val="115000"/>
              </a:lnSpc>
              <a:spcBef>
                <a:spcPts val="0"/>
              </a:spcBef>
              <a:spcAft>
                <a:spcPts val="0"/>
              </a:spcAft>
              <a:buSzPts val="1200"/>
              <a:buAutoNum type="arabicPeriod"/>
            </a:pPr>
            <a:r>
              <a:rPr b="1" lang="en-US" sz="1200">
                <a:latin typeface="Proxima Nova"/>
                <a:ea typeface="Proxima Nova"/>
                <a:cs typeface="Proxima Nova"/>
                <a:sym typeface="Proxima Nova"/>
              </a:rPr>
              <a:t>Learning a Mapping Function</a:t>
            </a:r>
            <a:r>
              <a:rPr lang="en-US" sz="1200">
                <a:latin typeface="Proxima Nova"/>
                <a:ea typeface="Proxima Nova"/>
                <a:cs typeface="Proxima Nova"/>
                <a:sym typeface="Proxima Nova"/>
              </a:rPr>
              <a:t>: The model learns a mapping from input features to the target output based on the provided labeled data.</a:t>
            </a:r>
            <a:endParaRPr sz="1200">
              <a:latin typeface="Proxima Nova"/>
              <a:ea typeface="Proxima Nova"/>
              <a:cs typeface="Proxima Nova"/>
              <a:sym typeface="Proxima Nova"/>
            </a:endParaRPr>
          </a:p>
          <a:p>
            <a:pPr indent="-304800" lvl="0" marL="457200" rtl="0" algn="l">
              <a:lnSpc>
                <a:spcPct val="115000"/>
              </a:lnSpc>
              <a:spcBef>
                <a:spcPts val="0"/>
              </a:spcBef>
              <a:spcAft>
                <a:spcPts val="0"/>
              </a:spcAft>
              <a:buSzPts val="1200"/>
              <a:buAutoNum type="arabicPeriod"/>
            </a:pPr>
            <a:r>
              <a:rPr b="1" lang="en-US" sz="1200">
                <a:latin typeface="Proxima Nova"/>
                <a:ea typeface="Proxima Nova"/>
                <a:cs typeface="Proxima Nova"/>
                <a:sym typeface="Proxima Nova"/>
              </a:rPr>
              <a:t>Generalization</a:t>
            </a:r>
            <a:r>
              <a:rPr lang="en-US" sz="1200">
                <a:latin typeface="Proxima Nova"/>
                <a:ea typeface="Proxima Nova"/>
                <a:cs typeface="Proxima Nova"/>
                <a:sym typeface="Proxima Nova"/>
              </a:rPr>
              <a:t>: The trained model should generalize well to unseen data, meaning it should make accurate predictions on new inputs that were not part of the training set.</a:t>
            </a:r>
            <a:endParaRPr sz="1200">
              <a:latin typeface="Proxima Nova"/>
              <a:ea typeface="Proxima Nova"/>
              <a:cs typeface="Proxima Nova"/>
              <a:sym typeface="Proxima Nova"/>
            </a:endParaRPr>
          </a:p>
          <a:p>
            <a:pPr indent="-304800" lvl="0" marL="457200" rtl="0" algn="l">
              <a:lnSpc>
                <a:spcPct val="115000"/>
              </a:lnSpc>
              <a:spcBef>
                <a:spcPts val="0"/>
              </a:spcBef>
              <a:spcAft>
                <a:spcPts val="0"/>
              </a:spcAft>
              <a:buSzPts val="1200"/>
              <a:buAutoNum type="arabicPeriod"/>
            </a:pPr>
            <a:r>
              <a:rPr b="1" lang="en-US" sz="1200">
                <a:latin typeface="Proxima Nova"/>
                <a:ea typeface="Proxima Nova"/>
                <a:cs typeface="Proxima Nova"/>
                <a:sym typeface="Proxima Nova"/>
              </a:rPr>
              <a:t>Prediction</a:t>
            </a:r>
            <a:r>
              <a:rPr lang="en-US" sz="1200">
                <a:latin typeface="Proxima Nova"/>
                <a:ea typeface="Proxima Nova"/>
                <a:cs typeface="Proxima Nova"/>
                <a:sym typeface="Proxima Nova"/>
              </a:rPr>
              <a:t>: Once trained, the model can be used to predict the output for new inputs that it hasn't seen before, based on the learned patterns from the training data.</a:t>
            </a:r>
            <a:endParaRPr sz="1200">
              <a:latin typeface="Proxima Nova"/>
              <a:ea typeface="Proxima Nova"/>
              <a:cs typeface="Proxima Nova"/>
              <a:sym typeface="Proxima Nova"/>
            </a:endParaRPr>
          </a:p>
          <a:p>
            <a:pPr indent="-304800" lvl="0" marL="457200" rtl="0" algn="l">
              <a:lnSpc>
                <a:spcPct val="115000"/>
              </a:lnSpc>
              <a:spcBef>
                <a:spcPts val="0"/>
              </a:spcBef>
              <a:spcAft>
                <a:spcPts val="0"/>
              </a:spcAft>
              <a:buSzPts val="1200"/>
              <a:buAutoNum type="arabicPeriod"/>
            </a:pPr>
            <a:r>
              <a:rPr b="1" lang="en-US" sz="1200">
                <a:latin typeface="Proxima Nova"/>
                <a:ea typeface="Proxima Nova"/>
                <a:cs typeface="Proxima Nova"/>
                <a:sym typeface="Proxima Nova"/>
              </a:rPr>
              <a:t>Evaluation</a:t>
            </a:r>
            <a:r>
              <a:rPr lang="en-US" sz="1200">
                <a:latin typeface="Proxima Nova"/>
                <a:ea typeface="Proxima Nova"/>
                <a:cs typeface="Proxima Nova"/>
                <a:sym typeface="Proxima Nova"/>
              </a:rPr>
              <a:t>: The performance of the model is evaluated using metrics appropriate for the specific task (e.g., accuracy, precision, recall for classification; mean squared error for regression) to assess how well it performs on unseen data.</a:t>
            </a:r>
            <a:endParaRPr sz="1200">
              <a:latin typeface="Proxima Nova"/>
              <a:ea typeface="Proxima Nova"/>
              <a:cs typeface="Proxima Nova"/>
              <a:sym typeface="Proxima Nova"/>
            </a:endParaRPr>
          </a:p>
          <a:p>
            <a:pPr indent="0" lvl="0" marL="0" rtl="0" algn="l">
              <a:lnSpc>
                <a:spcPct val="115000"/>
              </a:lnSpc>
              <a:spcBef>
                <a:spcPts val="1200"/>
              </a:spcBef>
              <a:spcAft>
                <a:spcPts val="0"/>
              </a:spcAft>
              <a:buNone/>
            </a:pPr>
            <a:r>
              <a:rPr lang="en-US" sz="1200">
                <a:latin typeface="Proxima Nova"/>
                <a:ea typeface="Proxima Nova"/>
                <a:cs typeface="Proxima Nova"/>
                <a:sym typeface="Proxima Nova"/>
              </a:rPr>
              <a:t>Supervised learning is widely used in various applications such as image and speech recognition, natural language processing, recommendation systems, and more. It forms the basis for many machine learning algorithms, including decision trees, support vector machines, neural networks, and deep learning models.</a:t>
            </a:r>
            <a:endParaRPr sz="1200">
              <a:latin typeface="Proxima Nova"/>
              <a:ea typeface="Proxima Nova"/>
              <a:cs typeface="Proxima Nova"/>
              <a:sym typeface="Proxima Nova"/>
            </a:endParaRPr>
          </a:p>
          <a:p>
            <a:pPr indent="0" lvl="0" marL="914400" marR="0" rtl="0" algn="l">
              <a:lnSpc>
                <a:spcPct val="100000"/>
              </a:lnSpc>
              <a:spcBef>
                <a:spcPts val="2000"/>
              </a:spcBef>
              <a:spcAft>
                <a:spcPts val="0"/>
              </a:spcAft>
              <a:buNone/>
            </a:pPr>
            <a:r>
              <a:t/>
            </a:r>
            <a:endParaRPr sz="1300">
              <a:solidFill>
                <a:srgbClr val="616161"/>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Key Concepts in Supervised Learning</a:t>
            </a:r>
            <a:endParaRPr/>
          </a:p>
        </p:txBody>
      </p:sp>
      <p:sp>
        <p:nvSpPr>
          <p:cNvPr id="78" name="Google Shape;78;p15"/>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 name="Google Shape;79;p15"/>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80" name="Google Shape;80;p15"/>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 name="Google Shape;81;p15"/>
          <p:cNvSpPr txBox="1"/>
          <p:nvPr/>
        </p:nvSpPr>
        <p:spPr>
          <a:xfrm>
            <a:off x="228600" y="1508670"/>
            <a:ext cx="8686800" cy="1863600"/>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Labeled Data:</a:t>
            </a:r>
            <a:r>
              <a:rPr b="0" i="0" lang="en-US" sz="1300" u="none" cap="none" strike="noStrike">
                <a:solidFill>
                  <a:srgbClr val="616161"/>
                </a:solidFill>
                <a:latin typeface="Proxima Nova"/>
                <a:ea typeface="Proxima Nova"/>
                <a:cs typeface="Proxima Nova"/>
                <a:sym typeface="Proxima Nova"/>
              </a:rPr>
              <a:t> </a:t>
            </a:r>
            <a:r>
              <a:rPr lang="en-US" sz="1300">
                <a:solidFill>
                  <a:srgbClr val="616161"/>
                </a:solidFill>
                <a:latin typeface="Proxima Nova"/>
                <a:ea typeface="Proxima Nova"/>
                <a:cs typeface="Proxima Nova"/>
                <a:sym typeface="Proxima Nova"/>
              </a:rPr>
              <a:t>The training dataset consists of examples where each example includes both input features and corresponding output labels. For example, in a dataset of handwritten digits:</a:t>
            </a:r>
            <a:endParaRPr sz="1300">
              <a:solidFill>
                <a:srgbClr val="616161"/>
              </a:solidFill>
              <a:latin typeface="Proxima Nova"/>
              <a:ea typeface="Proxima Nova"/>
              <a:cs typeface="Proxima Nova"/>
              <a:sym typeface="Proxima Nova"/>
            </a:endParaRPr>
          </a:p>
          <a:p>
            <a:pPr indent="-298450" lvl="0" marL="457200" rtl="0" algn="l">
              <a:lnSpc>
                <a:spcPct val="115000"/>
              </a:lnSpc>
              <a:spcBef>
                <a:spcPts val="0"/>
              </a:spcBef>
              <a:spcAft>
                <a:spcPts val="0"/>
              </a:spcAft>
              <a:buSzPts val="1100"/>
              <a:buChar char="●"/>
            </a:pPr>
            <a:r>
              <a:rPr lang="en-US" sz="1300">
                <a:solidFill>
                  <a:srgbClr val="616161"/>
                </a:solidFill>
                <a:latin typeface="Proxima Nova"/>
                <a:ea typeface="Proxima Nova"/>
                <a:cs typeface="Proxima Nova"/>
                <a:sym typeface="Proxima Nova"/>
              </a:rPr>
              <a:t>Input (features): Images of digits (e.g., pixel values).</a:t>
            </a:r>
            <a:endParaRPr sz="1300">
              <a:solidFill>
                <a:srgbClr val="616161"/>
              </a:solidFill>
              <a:latin typeface="Proxima Nova"/>
              <a:ea typeface="Proxima Nova"/>
              <a:cs typeface="Proxima Nova"/>
              <a:sym typeface="Proxima Nova"/>
            </a:endParaRPr>
          </a:p>
          <a:p>
            <a:pPr indent="-298450" lvl="0" marL="457200" rtl="0" algn="l">
              <a:lnSpc>
                <a:spcPct val="115000"/>
              </a:lnSpc>
              <a:spcBef>
                <a:spcPts val="0"/>
              </a:spcBef>
              <a:spcAft>
                <a:spcPts val="0"/>
              </a:spcAft>
              <a:buSzPts val="1100"/>
              <a:buChar char="●"/>
            </a:pPr>
            <a:r>
              <a:rPr lang="en-US" sz="1300">
                <a:solidFill>
                  <a:srgbClr val="616161"/>
                </a:solidFill>
                <a:latin typeface="Proxima Nova"/>
                <a:ea typeface="Proxima Nova"/>
                <a:cs typeface="Proxima Nova"/>
                <a:sym typeface="Proxima Nova"/>
              </a:rPr>
              <a:t>Output (labels): Corresponding digit (e.g., "0", "1", ..., "9").</a:t>
            </a:r>
            <a:endParaRPr sz="1300">
              <a:solidFill>
                <a:srgbClr val="616161"/>
              </a:solidFill>
              <a:latin typeface="Proxima Nova"/>
              <a:ea typeface="Proxima Nova"/>
              <a:cs typeface="Proxima Nova"/>
              <a:sym typeface="Proxima Nova"/>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Training and Testing:</a:t>
            </a:r>
            <a:r>
              <a:rPr b="0" i="0" lang="en-US" sz="1300" u="none" cap="none" strike="noStrike">
                <a:solidFill>
                  <a:srgbClr val="616161"/>
                </a:solidFill>
                <a:latin typeface="Proxima Nova"/>
                <a:ea typeface="Proxima Nova"/>
                <a:cs typeface="Proxima Nova"/>
                <a:sym typeface="Proxima Nova"/>
              </a:rPr>
              <a:t> Process of learning the model from training data and evaluating it on testing data.</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Overfitting and Underfitting:</a:t>
            </a:r>
            <a:r>
              <a:rPr b="0" i="0" lang="en-US" sz="1300" u="none" cap="none" strike="noStrike">
                <a:solidFill>
                  <a:srgbClr val="616161"/>
                </a:solidFill>
                <a:latin typeface="Proxima Nova"/>
                <a:ea typeface="Proxima Nova"/>
                <a:cs typeface="Proxima Nova"/>
                <a:sym typeface="Proxima Nova"/>
              </a:rPr>
              <a:t> Challenges in model training.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Types of Supervised Learning Algorithms</a:t>
            </a:r>
            <a:endParaRPr/>
          </a:p>
        </p:txBody>
      </p:sp>
      <p:sp>
        <p:nvSpPr>
          <p:cNvPr id="87" name="Google Shape;87;p16"/>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 name="Google Shape;88;p16"/>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89" name="Google Shape;89;p16"/>
          <p:cNvSpPr/>
          <p:nvPr/>
        </p:nvSpPr>
        <p:spPr>
          <a:xfrm>
            <a:off x="690725" y="190500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 name="Google Shape;90;p16"/>
          <p:cNvSpPr txBox="1"/>
          <p:nvPr/>
        </p:nvSpPr>
        <p:spPr>
          <a:xfrm>
            <a:off x="311700" y="908895"/>
            <a:ext cx="8686800" cy="992700"/>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Regression:</a:t>
            </a:r>
            <a:r>
              <a:rPr b="0" i="0" lang="en-US" sz="1300" u="none" cap="none" strike="noStrike">
                <a:solidFill>
                  <a:srgbClr val="616161"/>
                </a:solidFill>
                <a:latin typeface="Proxima Nova"/>
                <a:ea typeface="Proxima Nova"/>
                <a:cs typeface="Proxima Nova"/>
                <a:sym typeface="Proxima Nova"/>
              </a:rPr>
              <a:t> </a:t>
            </a:r>
            <a:r>
              <a:rPr lang="en-US" sz="1300">
                <a:solidFill>
                  <a:schemeClr val="accent3"/>
                </a:solidFill>
                <a:latin typeface="Proxima Nova"/>
                <a:ea typeface="Proxima Nova"/>
                <a:cs typeface="Proxima Nova"/>
                <a:sym typeface="Proxima Nova"/>
              </a:rPr>
              <a:t>The task of predicting a continuous numerical value. Example: Predicting housing prices based on features like size, location, etc.</a:t>
            </a:r>
            <a:endParaRPr sz="1300">
              <a:solidFill>
                <a:schemeClr val="accent3"/>
              </a:solidFill>
              <a:latin typeface="Proxima Nova"/>
              <a:ea typeface="Proxima Nova"/>
              <a:cs typeface="Proxima Nova"/>
              <a:sym typeface="Proxima Nova"/>
            </a:endParaRPr>
          </a:p>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Classification:</a:t>
            </a:r>
            <a:r>
              <a:rPr b="0" i="0" lang="en-US" sz="1300" u="none" cap="none" strike="noStrike">
                <a:solidFill>
                  <a:srgbClr val="616161"/>
                </a:solidFill>
                <a:latin typeface="Proxima Nova"/>
                <a:ea typeface="Proxima Nova"/>
                <a:cs typeface="Proxima Nova"/>
                <a:sym typeface="Proxima Nova"/>
              </a:rPr>
              <a:t> </a:t>
            </a:r>
            <a:r>
              <a:rPr lang="en-US" sz="1300">
                <a:solidFill>
                  <a:schemeClr val="accent3"/>
                </a:solidFill>
                <a:latin typeface="Proxima Nova"/>
                <a:ea typeface="Proxima Nova"/>
                <a:cs typeface="Proxima Nova"/>
                <a:sym typeface="Proxima Nova"/>
              </a:rPr>
              <a:t>The task of predicting a categorical label or class from a set of possible classes. Example: Email spam detection (classifying emails as spam or not).</a:t>
            </a:r>
            <a:endParaRPr sz="1300">
              <a:solidFill>
                <a:srgbClr val="616161"/>
              </a:solidFill>
              <a:latin typeface="Proxima Nova"/>
              <a:ea typeface="Proxima Nova"/>
              <a:cs typeface="Proxima Nova"/>
              <a:sym typeface="Proxima Nova"/>
            </a:endParaRPr>
          </a:p>
        </p:txBody>
      </p:sp>
      <p:pic>
        <p:nvPicPr>
          <p:cNvPr descr="Regression vs. Classification in Machine Learning for Beginners |  Simplilearn" id="91" name="Google Shape;91;p16"/>
          <p:cNvPicPr preferRelativeResize="0"/>
          <p:nvPr/>
        </p:nvPicPr>
        <p:blipFill>
          <a:blip r:embed="rId3">
            <a:alphaModFix/>
          </a:blip>
          <a:stretch>
            <a:fillRect/>
          </a:stretch>
        </p:blipFill>
        <p:spPr>
          <a:xfrm>
            <a:off x="1592825" y="2012875"/>
            <a:ext cx="5275624" cy="296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Linear Regression</a:t>
            </a:r>
            <a:endParaRPr/>
          </a:p>
        </p:txBody>
      </p:sp>
      <p:sp>
        <p:nvSpPr>
          <p:cNvPr id="97" name="Google Shape;97;p17"/>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8" name="Google Shape;98;p17"/>
          <p:cNvSpPr/>
          <p:nvPr/>
        </p:nvSpPr>
        <p:spPr>
          <a:xfrm>
            <a:off x="228600" y="1508670"/>
            <a:ext cx="8686800"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 name="Google Shape;99;p17"/>
          <p:cNvSpPr/>
          <p:nvPr/>
        </p:nvSpPr>
        <p:spPr>
          <a:xfrm>
            <a:off x="2286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 name="Google Shape;100;p17"/>
          <p:cNvSpPr txBox="1"/>
          <p:nvPr/>
        </p:nvSpPr>
        <p:spPr>
          <a:xfrm>
            <a:off x="228600" y="1508670"/>
            <a:ext cx="4191000" cy="2049900"/>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Definition:</a:t>
            </a:r>
            <a:r>
              <a:rPr b="0" i="0" lang="en-US" sz="1300" u="none" cap="none" strike="noStrike">
                <a:solidFill>
                  <a:srgbClr val="616161"/>
                </a:solidFill>
                <a:latin typeface="Proxima Nova"/>
                <a:ea typeface="Proxima Nova"/>
                <a:cs typeface="Proxima Nova"/>
                <a:sym typeface="Proxima Nova"/>
              </a:rPr>
              <a:t> </a:t>
            </a:r>
            <a:r>
              <a:rPr lang="en-US" sz="1300">
                <a:solidFill>
                  <a:srgbClr val="616161"/>
                </a:solidFill>
                <a:latin typeface="Proxima Nova"/>
                <a:ea typeface="Proxima Nova"/>
                <a:cs typeface="Proxima Nova"/>
                <a:sym typeface="Proxima Nova"/>
              </a:rPr>
              <a:t>Linear regression is a fundamental technique in supervised learning used for predicting continuous values. It models the relationship between a dependent variable (target) and one or more independent variables (features) by fitting a linear equation to observed data.</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Application:</a:t>
            </a:r>
            <a:r>
              <a:rPr b="0" i="0" lang="en-US" sz="1300" u="none" cap="none" strike="noStrike">
                <a:solidFill>
                  <a:srgbClr val="616161"/>
                </a:solidFill>
                <a:latin typeface="Proxima Nova"/>
                <a:ea typeface="Proxima Nova"/>
                <a:cs typeface="Proxima Nova"/>
                <a:sym typeface="Proxima Nova"/>
              </a:rPr>
              <a:t> Example - Predicting house prices based on features like size, location, etc.</a:t>
            </a:r>
            <a:endParaRPr/>
          </a:p>
        </p:txBody>
      </p:sp>
      <p:sp>
        <p:nvSpPr>
          <p:cNvPr id="101" name="Google Shape;101;p17"/>
          <p:cNvSpPr/>
          <p:nvPr/>
        </p:nvSpPr>
        <p:spPr>
          <a:xfrm>
            <a:off x="47244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 name="Google Shape;102;p17"/>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3" name="Google Shape;103;p17"/>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Linear Regression in Machine learning - GeeksforGeeks" id="104" name="Google Shape;104;p17"/>
          <p:cNvPicPr preferRelativeResize="0"/>
          <p:nvPr/>
        </p:nvPicPr>
        <p:blipFill>
          <a:blip r:embed="rId3">
            <a:alphaModFix/>
          </a:blip>
          <a:stretch>
            <a:fillRect/>
          </a:stretch>
        </p:blipFill>
        <p:spPr>
          <a:xfrm>
            <a:off x="4468750" y="1122913"/>
            <a:ext cx="4497326" cy="282142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Logistic Regression</a:t>
            </a:r>
            <a:endParaRPr/>
          </a:p>
        </p:txBody>
      </p:sp>
      <p:sp>
        <p:nvSpPr>
          <p:cNvPr id="110" name="Google Shape;110;p18"/>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1" name="Google Shape;111;p18"/>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12" name="Google Shape;112;p18"/>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3" name="Google Shape;113;p18"/>
          <p:cNvSpPr txBox="1"/>
          <p:nvPr/>
        </p:nvSpPr>
        <p:spPr>
          <a:xfrm>
            <a:off x="228600" y="987570"/>
            <a:ext cx="8686800" cy="1249200"/>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Definition:</a:t>
            </a:r>
            <a:r>
              <a:rPr b="0" i="0" lang="en-US" sz="1300" u="none" cap="none" strike="noStrike">
                <a:solidFill>
                  <a:srgbClr val="616161"/>
                </a:solidFill>
                <a:latin typeface="Proxima Nova"/>
                <a:ea typeface="Proxima Nova"/>
                <a:cs typeface="Proxima Nova"/>
                <a:sym typeface="Proxima Nova"/>
              </a:rPr>
              <a:t> </a:t>
            </a:r>
            <a:r>
              <a:rPr lang="en-US" sz="1300">
                <a:solidFill>
                  <a:srgbClr val="616161"/>
                </a:solidFill>
                <a:latin typeface="Proxima Nova"/>
                <a:ea typeface="Proxima Nova"/>
                <a:cs typeface="Proxima Nova"/>
                <a:sym typeface="Proxima Nova"/>
              </a:rPr>
              <a:t>Logistic regression is another fundamental technique in machine learning used for binary classification tasks. Despite its name, it's actually a linear model for binary classification that predicts the probability of a binary outcome based on input features. </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Application:</a:t>
            </a:r>
            <a:r>
              <a:rPr b="0" i="0" lang="en-US" sz="1300" u="none" cap="none" strike="noStrike">
                <a:solidFill>
                  <a:srgbClr val="616161"/>
                </a:solidFill>
                <a:latin typeface="Proxima Nova"/>
                <a:ea typeface="Proxima Nova"/>
                <a:cs typeface="Proxima Nova"/>
                <a:sym typeface="Proxima Nova"/>
              </a:rPr>
              <a:t> Example - Predicting whether an email is spam or not based on its content.</a:t>
            </a:r>
            <a:endParaRPr/>
          </a:p>
        </p:txBody>
      </p:sp>
      <p:pic>
        <p:nvPicPr>
          <p:cNvPr id="114" name="Google Shape;114;p18"/>
          <p:cNvPicPr preferRelativeResize="0"/>
          <p:nvPr/>
        </p:nvPicPr>
        <p:blipFill>
          <a:blip r:embed="rId3">
            <a:alphaModFix/>
          </a:blip>
          <a:stretch>
            <a:fillRect/>
          </a:stretch>
        </p:blipFill>
        <p:spPr>
          <a:xfrm>
            <a:off x="2523200" y="2174245"/>
            <a:ext cx="4097599" cy="2737425"/>
          </a:xfrm>
          <a:prstGeom prst="rect">
            <a:avLst/>
          </a:prstGeom>
          <a:solidFill>
            <a:srgbClr val="000000">
              <a:alpha val="0"/>
            </a:srgbClr>
          </a:solid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Decision Trees</a:t>
            </a:r>
            <a:endParaRPr/>
          </a:p>
        </p:txBody>
      </p:sp>
      <p:sp>
        <p:nvSpPr>
          <p:cNvPr id="120" name="Google Shape;120;p19"/>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p19"/>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22" name="Google Shape;122;p19"/>
          <p:cNvSpPr/>
          <p:nvPr/>
        </p:nvSpPr>
        <p:spPr>
          <a:xfrm>
            <a:off x="228600" y="1508670"/>
            <a:ext cx="8686800"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 name="Google Shape;123;p19"/>
          <p:cNvSpPr/>
          <p:nvPr/>
        </p:nvSpPr>
        <p:spPr>
          <a:xfrm>
            <a:off x="2286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4" name="Google Shape;124;p19"/>
          <p:cNvSpPr txBox="1"/>
          <p:nvPr/>
        </p:nvSpPr>
        <p:spPr>
          <a:xfrm>
            <a:off x="228600" y="1508670"/>
            <a:ext cx="4191000" cy="2049900"/>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Definition:</a:t>
            </a:r>
            <a:r>
              <a:rPr b="0" i="0" lang="en-US" sz="1300" u="none" cap="none" strike="noStrike">
                <a:solidFill>
                  <a:srgbClr val="616161"/>
                </a:solidFill>
                <a:latin typeface="Proxima Nova"/>
                <a:ea typeface="Proxima Nova"/>
                <a:cs typeface="Proxima Nova"/>
                <a:sym typeface="Proxima Nova"/>
              </a:rPr>
              <a:t> </a:t>
            </a:r>
            <a:r>
              <a:rPr lang="en-US" sz="1300">
                <a:solidFill>
                  <a:srgbClr val="616161"/>
                </a:solidFill>
                <a:latin typeface="Proxima Nova"/>
                <a:ea typeface="Proxima Nova"/>
                <a:cs typeface="Proxima Nova"/>
                <a:sym typeface="Proxima Nova"/>
              </a:rPr>
              <a:t>A decision tree is a versatile and intuitive supervised learning algorithm used for both classification and regression tasks. It works by recursively partitioning the data into subsets based on the most significant attribute at each node</a:t>
            </a:r>
            <a:r>
              <a:rPr b="0" i="0" lang="en-US" sz="1300" u="none" cap="none" strike="noStrike">
                <a:solidFill>
                  <a:srgbClr val="616161"/>
                </a:solidFill>
                <a:latin typeface="Proxima Nova"/>
                <a:ea typeface="Proxima Nova"/>
                <a:cs typeface="Proxima Nova"/>
                <a:sym typeface="Proxima Nova"/>
              </a:rPr>
              <a:t>.</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Application:</a:t>
            </a:r>
            <a:r>
              <a:rPr b="0" i="0" lang="en-US" sz="1300" u="none" cap="none" strike="noStrike">
                <a:solidFill>
                  <a:srgbClr val="616161"/>
                </a:solidFill>
                <a:latin typeface="Proxima Nova"/>
                <a:ea typeface="Proxima Nova"/>
                <a:cs typeface="Proxima Nova"/>
                <a:sym typeface="Proxima Nova"/>
              </a:rPr>
              <a:t> Example - Classifying whether a person will buy a product based on their age, income, etc.</a:t>
            </a:r>
            <a:endParaRPr/>
          </a:p>
        </p:txBody>
      </p:sp>
      <p:sp>
        <p:nvSpPr>
          <p:cNvPr id="125" name="Google Shape;125;p19"/>
          <p:cNvSpPr/>
          <p:nvPr/>
        </p:nvSpPr>
        <p:spPr>
          <a:xfrm>
            <a:off x="47244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6" name="Google Shape;126;p19"/>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7" name="Google Shape;127;p19"/>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28" name="Google Shape;128;p19"/>
          <p:cNvPicPr preferRelativeResize="0"/>
          <p:nvPr/>
        </p:nvPicPr>
        <p:blipFill>
          <a:blip r:embed="rId3">
            <a:alphaModFix/>
          </a:blip>
          <a:stretch>
            <a:fillRect/>
          </a:stretch>
        </p:blipFill>
        <p:spPr>
          <a:xfrm>
            <a:off x="4536875" y="1087600"/>
            <a:ext cx="4378525" cy="24191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Support Vector Machines (SVM)</a:t>
            </a:r>
            <a:endParaRPr/>
          </a:p>
        </p:txBody>
      </p:sp>
      <p:sp>
        <p:nvSpPr>
          <p:cNvPr id="134" name="Google Shape;134;p20"/>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 name="Google Shape;135;p20"/>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36" name="Google Shape;136;p20"/>
          <p:cNvSpPr/>
          <p:nvPr/>
        </p:nvSpPr>
        <p:spPr>
          <a:xfrm>
            <a:off x="228600" y="1508670"/>
            <a:ext cx="8686800"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 name="Google Shape;137;p20"/>
          <p:cNvSpPr/>
          <p:nvPr/>
        </p:nvSpPr>
        <p:spPr>
          <a:xfrm>
            <a:off x="2286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8" name="Google Shape;138;p20"/>
          <p:cNvSpPr txBox="1"/>
          <p:nvPr/>
        </p:nvSpPr>
        <p:spPr>
          <a:xfrm>
            <a:off x="228600" y="655200"/>
            <a:ext cx="8520600" cy="4488300"/>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Definition:</a:t>
            </a:r>
            <a:r>
              <a:rPr i="0" lang="en-US" sz="1300" u="none" cap="none" strike="noStrike">
                <a:solidFill>
                  <a:srgbClr val="616161"/>
                </a:solidFill>
                <a:latin typeface="Proxima Nova"/>
                <a:ea typeface="Proxima Nova"/>
                <a:cs typeface="Proxima Nova"/>
                <a:sym typeface="Proxima Nova"/>
              </a:rPr>
              <a:t> SVMs are supervised learning models used for classification and regression by finding the hyperplane that best divides the data into classes</a:t>
            </a:r>
            <a:endParaRPr i="0" sz="1300" u="none" cap="none" strike="noStrike">
              <a:solidFill>
                <a:srgbClr val="616161"/>
              </a:solidFill>
              <a:latin typeface="Proxima Nova"/>
              <a:ea typeface="Proxima Nova"/>
              <a:cs typeface="Proxima Nova"/>
              <a:sym typeface="Proxima Nova"/>
            </a:endParaRPr>
          </a:p>
          <a:p>
            <a:pPr indent="-91440" lvl="0" marL="228600" marR="0" rtl="0" algn="l">
              <a:lnSpc>
                <a:spcPct val="100000"/>
              </a:lnSpc>
              <a:spcBef>
                <a:spcPts val="0"/>
              </a:spcBef>
              <a:spcAft>
                <a:spcPts val="0"/>
              </a:spcAft>
              <a:buClr>
                <a:srgbClr val="000000"/>
              </a:buClr>
              <a:buSzPts val="1300"/>
              <a:buFont typeface="Proxima Nova"/>
              <a:buChar char="•"/>
            </a:pPr>
            <a:r>
              <a:rPr lang="en-US" sz="1300">
                <a:latin typeface="Proxima Nova"/>
                <a:ea typeface="Proxima Nova"/>
                <a:cs typeface="Proxima Nova"/>
                <a:sym typeface="Proxima Nova"/>
              </a:rPr>
              <a:t>Basics of Support Vector Machines (SVMs)</a:t>
            </a:r>
            <a:endParaRPr sz="1300">
              <a:latin typeface="Proxima Nova"/>
              <a:ea typeface="Proxima Nova"/>
              <a:cs typeface="Proxima Nova"/>
              <a:sym typeface="Proxima Nova"/>
            </a:endParaRPr>
          </a:p>
          <a:p>
            <a:pPr indent="-298450" lvl="0" marL="457200" rtl="0" algn="l">
              <a:lnSpc>
                <a:spcPct val="115000"/>
              </a:lnSpc>
              <a:spcBef>
                <a:spcPts val="0"/>
              </a:spcBef>
              <a:spcAft>
                <a:spcPts val="0"/>
              </a:spcAft>
              <a:buSzPts val="1100"/>
              <a:buAutoNum type="arabicPeriod"/>
            </a:pPr>
            <a:r>
              <a:rPr lang="en-US" sz="1100">
                <a:latin typeface="Proxima Nova"/>
                <a:ea typeface="Proxima Nova"/>
                <a:cs typeface="Proxima Nova"/>
                <a:sym typeface="Proxima Nova"/>
              </a:rPr>
              <a:t>Objective:</a:t>
            </a:r>
            <a:endParaRPr sz="1100">
              <a:latin typeface="Proxima Nova"/>
              <a:ea typeface="Proxima Nova"/>
              <a:cs typeface="Proxima Nova"/>
              <a:sym typeface="Proxima Nova"/>
            </a:endParaRPr>
          </a:p>
          <a:p>
            <a:pPr indent="-298450" lvl="1" marL="914400" rtl="0" algn="l">
              <a:lnSpc>
                <a:spcPct val="115000"/>
              </a:lnSpc>
              <a:spcBef>
                <a:spcPts val="0"/>
              </a:spcBef>
              <a:spcAft>
                <a:spcPts val="0"/>
              </a:spcAft>
              <a:buSzPts val="1100"/>
              <a:buFont typeface="Proxima Nova"/>
              <a:buChar char="○"/>
            </a:pPr>
            <a:r>
              <a:rPr lang="en-US" sz="1100">
                <a:latin typeface="Proxima Nova"/>
                <a:ea typeface="Proxima Nova"/>
                <a:cs typeface="Proxima Nova"/>
                <a:sym typeface="Proxima Nova"/>
              </a:rPr>
              <a:t>SVMs aim to find the optimal hyperplane that best separates classes in a feature space.</a:t>
            </a:r>
            <a:endParaRPr sz="1100">
              <a:latin typeface="Proxima Nova"/>
              <a:ea typeface="Proxima Nova"/>
              <a:cs typeface="Proxima Nova"/>
              <a:sym typeface="Proxima Nova"/>
            </a:endParaRPr>
          </a:p>
          <a:p>
            <a:pPr indent="-298450" lvl="1" marL="914400" rtl="0" algn="l">
              <a:lnSpc>
                <a:spcPct val="115000"/>
              </a:lnSpc>
              <a:spcBef>
                <a:spcPts val="0"/>
              </a:spcBef>
              <a:spcAft>
                <a:spcPts val="0"/>
              </a:spcAft>
              <a:buSzPts val="1100"/>
              <a:buFont typeface="Proxima Nova"/>
              <a:buChar char="○"/>
            </a:pPr>
            <a:r>
              <a:rPr lang="en-US" sz="1100">
                <a:latin typeface="Proxima Nova"/>
                <a:ea typeface="Proxima Nova"/>
                <a:cs typeface="Proxima Nova"/>
                <a:sym typeface="Proxima Nova"/>
              </a:rPr>
              <a:t>For classification, SVMs maximize the margin between the hyperplane and the nearest data points (support vectors).</a:t>
            </a:r>
            <a:endParaRPr sz="1100">
              <a:latin typeface="Proxima Nova"/>
              <a:ea typeface="Proxima Nova"/>
              <a:cs typeface="Proxima Nova"/>
              <a:sym typeface="Proxima Nova"/>
            </a:endParaRPr>
          </a:p>
          <a:p>
            <a:pPr indent="-298450" lvl="0" marL="457200" rtl="0" algn="l">
              <a:lnSpc>
                <a:spcPct val="115000"/>
              </a:lnSpc>
              <a:spcBef>
                <a:spcPts val="0"/>
              </a:spcBef>
              <a:spcAft>
                <a:spcPts val="0"/>
              </a:spcAft>
              <a:buSzPts val="1100"/>
              <a:buAutoNum type="arabicPeriod"/>
            </a:pPr>
            <a:r>
              <a:rPr lang="en-US" sz="1100">
                <a:latin typeface="Proxima Nova"/>
                <a:ea typeface="Proxima Nova"/>
                <a:cs typeface="Proxima Nova"/>
                <a:sym typeface="Proxima Nova"/>
              </a:rPr>
              <a:t>Hyperplane:</a:t>
            </a:r>
            <a:endParaRPr sz="1100">
              <a:latin typeface="Proxima Nova"/>
              <a:ea typeface="Proxima Nova"/>
              <a:cs typeface="Proxima Nova"/>
              <a:sym typeface="Proxima Nova"/>
            </a:endParaRPr>
          </a:p>
          <a:p>
            <a:pPr indent="-298450" lvl="1" marL="914400" rtl="0" algn="l">
              <a:lnSpc>
                <a:spcPct val="115000"/>
              </a:lnSpc>
              <a:spcBef>
                <a:spcPts val="0"/>
              </a:spcBef>
              <a:spcAft>
                <a:spcPts val="0"/>
              </a:spcAft>
              <a:buSzPts val="1100"/>
              <a:buFont typeface="Proxima Nova"/>
              <a:buChar char="○"/>
            </a:pPr>
            <a:r>
              <a:rPr lang="en-US" sz="1100">
                <a:latin typeface="Proxima Nova"/>
                <a:ea typeface="Proxima Nova"/>
                <a:cs typeface="Proxima Nova"/>
                <a:sym typeface="Proxima Nova"/>
              </a:rPr>
              <a:t>In a two-dimensional space, the hyperplane is a line that separates the data into two classes.</a:t>
            </a:r>
            <a:endParaRPr sz="1100">
              <a:latin typeface="Proxima Nova"/>
              <a:ea typeface="Proxima Nova"/>
              <a:cs typeface="Proxima Nova"/>
              <a:sym typeface="Proxima Nova"/>
            </a:endParaRPr>
          </a:p>
          <a:p>
            <a:pPr indent="-298450" lvl="1" marL="914400" rtl="0" algn="l">
              <a:lnSpc>
                <a:spcPct val="115000"/>
              </a:lnSpc>
              <a:spcBef>
                <a:spcPts val="0"/>
              </a:spcBef>
              <a:spcAft>
                <a:spcPts val="0"/>
              </a:spcAft>
              <a:buSzPts val="1100"/>
              <a:buFont typeface="Proxima Nova"/>
              <a:buChar char="○"/>
            </a:pPr>
            <a:r>
              <a:rPr lang="en-US" sz="1100">
                <a:latin typeface="Proxima Nova"/>
                <a:ea typeface="Proxima Nova"/>
                <a:cs typeface="Proxima Nova"/>
                <a:sym typeface="Proxima Nova"/>
              </a:rPr>
              <a:t>In higher-dimensional spaces, the hyperplane becomes a hyperplane that separates data points into different classes.</a:t>
            </a:r>
            <a:endParaRPr sz="1100">
              <a:latin typeface="Proxima Nova"/>
              <a:ea typeface="Proxima Nova"/>
              <a:cs typeface="Proxima Nova"/>
              <a:sym typeface="Proxima Nova"/>
            </a:endParaRPr>
          </a:p>
          <a:p>
            <a:pPr indent="-298450" lvl="0" marL="457200" rtl="0" algn="l">
              <a:lnSpc>
                <a:spcPct val="115000"/>
              </a:lnSpc>
              <a:spcBef>
                <a:spcPts val="0"/>
              </a:spcBef>
              <a:spcAft>
                <a:spcPts val="0"/>
              </a:spcAft>
              <a:buSzPts val="1100"/>
              <a:buAutoNum type="arabicPeriod"/>
            </a:pPr>
            <a:r>
              <a:rPr lang="en-US" sz="1100">
                <a:latin typeface="Proxima Nova"/>
                <a:ea typeface="Proxima Nova"/>
                <a:cs typeface="Proxima Nova"/>
                <a:sym typeface="Proxima Nova"/>
              </a:rPr>
              <a:t>Margin:</a:t>
            </a:r>
            <a:endParaRPr sz="1100">
              <a:latin typeface="Proxima Nova"/>
              <a:ea typeface="Proxima Nova"/>
              <a:cs typeface="Proxima Nova"/>
              <a:sym typeface="Proxima Nova"/>
            </a:endParaRPr>
          </a:p>
          <a:p>
            <a:pPr indent="-298450" lvl="1" marL="914400" rtl="0" algn="l">
              <a:lnSpc>
                <a:spcPct val="115000"/>
              </a:lnSpc>
              <a:spcBef>
                <a:spcPts val="0"/>
              </a:spcBef>
              <a:spcAft>
                <a:spcPts val="0"/>
              </a:spcAft>
              <a:buSzPts val="1100"/>
              <a:buFont typeface="Proxima Nova"/>
              <a:buChar char="○"/>
            </a:pPr>
            <a:r>
              <a:rPr lang="en-US" sz="1100">
                <a:latin typeface="Proxima Nova"/>
                <a:ea typeface="Proxima Nova"/>
                <a:cs typeface="Proxima Nova"/>
                <a:sym typeface="Proxima Nova"/>
              </a:rPr>
              <a:t>The margin is the distance between the hyperplane and the closest</a:t>
            </a:r>
            <a:endParaRPr sz="1100">
              <a:latin typeface="Proxima Nova"/>
              <a:ea typeface="Proxima Nova"/>
              <a:cs typeface="Proxima Nova"/>
              <a:sym typeface="Proxima Nova"/>
            </a:endParaRPr>
          </a:p>
          <a:p>
            <a:pPr indent="0" lvl="0" marL="914400" rtl="0" algn="l">
              <a:lnSpc>
                <a:spcPct val="115000"/>
              </a:lnSpc>
              <a:spcBef>
                <a:spcPts val="1200"/>
              </a:spcBef>
              <a:spcAft>
                <a:spcPts val="0"/>
              </a:spcAft>
              <a:buNone/>
            </a:pPr>
            <a:r>
              <a:rPr lang="en-US" sz="1100">
                <a:latin typeface="Proxima Nova"/>
                <a:ea typeface="Proxima Nova"/>
                <a:cs typeface="Proxima Nova"/>
                <a:sym typeface="Proxima Nova"/>
              </a:rPr>
              <a:t> data points from both classes.</a:t>
            </a:r>
            <a:endParaRPr sz="1100">
              <a:latin typeface="Proxima Nova"/>
              <a:ea typeface="Proxima Nova"/>
              <a:cs typeface="Proxima Nova"/>
              <a:sym typeface="Proxima Nova"/>
            </a:endParaRPr>
          </a:p>
          <a:p>
            <a:pPr indent="-298450" lvl="1" marL="914400" rtl="0" algn="l">
              <a:lnSpc>
                <a:spcPct val="115000"/>
              </a:lnSpc>
              <a:spcBef>
                <a:spcPts val="1200"/>
              </a:spcBef>
              <a:spcAft>
                <a:spcPts val="0"/>
              </a:spcAft>
              <a:buSzPts val="1100"/>
              <a:buFont typeface="Proxima Nova"/>
              <a:buChar char="○"/>
            </a:pPr>
            <a:r>
              <a:rPr lang="en-US" sz="1100">
                <a:latin typeface="Proxima Nova"/>
                <a:ea typeface="Proxima Nova"/>
                <a:cs typeface="Proxima Nova"/>
                <a:sym typeface="Proxima Nova"/>
              </a:rPr>
              <a:t>SVMs maximize this margin to improve generalization to new data.</a:t>
            </a:r>
            <a:endParaRPr sz="1100">
              <a:latin typeface="Proxima Nova"/>
              <a:ea typeface="Proxima Nova"/>
              <a:cs typeface="Proxima Nova"/>
              <a:sym typeface="Proxima Nova"/>
            </a:endParaRPr>
          </a:p>
          <a:p>
            <a:pPr indent="-298450" lvl="0" marL="457200" rtl="0" algn="l">
              <a:lnSpc>
                <a:spcPct val="115000"/>
              </a:lnSpc>
              <a:spcBef>
                <a:spcPts val="0"/>
              </a:spcBef>
              <a:spcAft>
                <a:spcPts val="0"/>
              </a:spcAft>
              <a:buSzPts val="1100"/>
              <a:buAutoNum type="arabicPeriod"/>
            </a:pPr>
            <a:r>
              <a:rPr lang="en-US" sz="1100">
                <a:latin typeface="Proxima Nova"/>
                <a:ea typeface="Proxima Nova"/>
                <a:cs typeface="Proxima Nova"/>
                <a:sym typeface="Proxima Nova"/>
              </a:rPr>
              <a:t>Support Vectors:</a:t>
            </a:r>
            <a:endParaRPr sz="1100">
              <a:latin typeface="Proxima Nova"/>
              <a:ea typeface="Proxima Nova"/>
              <a:cs typeface="Proxima Nova"/>
              <a:sym typeface="Proxima Nova"/>
            </a:endParaRPr>
          </a:p>
          <a:p>
            <a:pPr indent="-298450" lvl="1" marL="914400" rtl="0" algn="l">
              <a:lnSpc>
                <a:spcPct val="115000"/>
              </a:lnSpc>
              <a:spcBef>
                <a:spcPts val="0"/>
              </a:spcBef>
              <a:spcAft>
                <a:spcPts val="0"/>
              </a:spcAft>
              <a:buSzPts val="1100"/>
              <a:buFont typeface="Proxima Nova"/>
              <a:buChar char="○"/>
            </a:pPr>
            <a:r>
              <a:rPr lang="en-US" sz="1100">
                <a:latin typeface="Proxima Nova"/>
                <a:ea typeface="Proxima Nova"/>
                <a:cs typeface="Proxima Nova"/>
                <a:sym typeface="Proxima Nova"/>
              </a:rPr>
              <a:t>Support vectors are the data points closest to the hyperplane and </a:t>
            </a:r>
            <a:endParaRPr sz="1100">
              <a:latin typeface="Proxima Nova"/>
              <a:ea typeface="Proxima Nova"/>
              <a:cs typeface="Proxima Nova"/>
              <a:sym typeface="Proxima Nova"/>
            </a:endParaRPr>
          </a:p>
          <a:p>
            <a:pPr indent="0" lvl="0" marL="914400" rtl="0" algn="l">
              <a:lnSpc>
                <a:spcPct val="115000"/>
              </a:lnSpc>
              <a:spcBef>
                <a:spcPts val="1200"/>
              </a:spcBef>
              <a:spcAft>
                <a:spcPts val="0"/>
              </a:spcAft>
              <a:buNone/>
            </a:pPr>
            <a:r>
              <a:rPr lang="en-US" sz="1100">
                <a:latin typeface="Proxima Nova"/>
                <a:ea typeface="Proxima Nova"/>
                <a:cs typeface="Proxima Nova"/>
                <a:sym typeface="Proxima Nova"/>
              </a:rPr>
              <a:t>determine its orientation.</a:t>
            </a:r>
            <a:endParaRPr sz="1100">
              <a:latin typeface="Proxima Nova"/>
              <a:ea typeface="Proxima Nova"/>
              <a:cs typeface="Proxima Nova"/>
              <a:sym typeface="Proxima Nova"/>
            </a:endParaRPr>
          </a:p>
          <a:p>
            <a:pPr indent="-298450" lvl="1" marL="914400" rtl="0" algn="l">
              <a:lnSpc>
                <a:spcPct val="115000"/>
              </a:lnSpc>
              <a:spcBef>
                <a:spcPts val="1200"/>
              </a:spcBef>
              <a:spcAft>
                <a:spcPts val="0"/>
              </a:spcAft>
              <a:buSzPts val="1100"/>
              <a:buFont typeface="Proxima Nova"/>
              <a:buChar char="○"/>
            </a:pPr>
            <a:r>
              <a:rPr lang="en-US" sz="1100">
                <a:latin typeface="Proxima Nova"/>
                <a:ea typeface="Proxima Nova"/>
                <a:cs typeface="Proxima Nova"/>
                <a:sym typeface="Proxima Nova"/>
              </a:rPr>
              <a:t>These points are crucial because they influence the position and</a:t>
            </a:r>
            <a:endParaRPr sz="1100">
              <a:latin typeface="Proxima Nova"/>
              <a:ea typeface="Proxima Nova"/>
              <a:cs typeface="Proxima Nova"/>
              <a:sym typeface="Proxima Nova"/>
            </a:endParaRPr>
          </a:p>
          <a:p>
            <a:pPr indent="0" lvl="0" marL="914400" rtl="0" algn="l">
              <a:lnSpc>
                <a:spcPct val="115000"/>
              </a:lnSpc>
              <a:spcBef>
                <a:spcPts val="1200"/>
              </a:spcBef>
              <a:spcAft>
                <a:spcPts val="1200"/>
              </a:spcAft>
              <a:buNone/>
            </a:pPr>
            <a:r>
              <a:rPr lang="en-US" sz="1100">
                <a:latin typeface="Proxima Nova"/>
                <a:ea typeface="Proxima Nova"/>
                <a:cs typeface="Proxima Nova"/>
                <a:sym typeface="Proxima Nova"/>
              </a:rPr>
              <a:t>orientation of the optimal hyperplane</a:t>
            </a:r>
            <a:r>
              <a:rPr i="0" lang="en-US" sz="1300" u="none" cap="none" strike="noStrike">
                <a:solidFill>
                  <a:srgbClr val="616161"/>
                </a:solidFill>
                <a:latin typeface="Proxima Nova"/>
                <a:ea typeface="Proxima Nova"/>
                <a:cs typeface="Proxima Nova"/>
                <a:sym typeface="Proxima Nova"/>
              </a:rPr>
              <a:t>.</a:t>
            </a:r>
            <a:endParaRPr>
              <a:latin typeface="Proxima Nova"/>
              <a:ea typeface="Proxima Nova"/>
              <a:cs typeface="Proxima Nova"/>
              <a:sym typeface="Proxima Nova"/>
            </a:endParaRPr>
          </a:p>
        </p:txBody>
      </p:sp>
      <p:sp>
        <p:nvSpPr>
          <p:cNvPr id="139" name="Google Shape;139;p20"/>
          <p:cNvSpPr/>
          <p:nvPr/>
        </p:nvSpPr>
        <p:spPr>
          <a:xfrm>
            <a:off x="47244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0" name="Google Shape;140;p20"/>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41" name="Google Shape;141;p20"/>
          <p:cNvPicPr preferRelativeResize="0"/>
          <p:nvPr/>
        </p:nvPicPr>
        <p:blipFill>
          <a:blip r:embed="rId3">
            <a:alphaModFix/>
          </a:blip>
          <a:stretch>
            <a:fillRect/>
          </a:stretch>
        </p:blipFill>
        <p:spPr>
          <a:xfrm>
            <a:off x="5644422" y="2753150"/>
            <a:ext cx="3270975" cy="2180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Neural Networks</a:t>
            </a:r>
            <a:endParaRPr/>
          </a:p>
        </p:txBody>
      </p:sp>
      <p:sp>
        <p:nvSpPr>
          <p:cNvPr id="147" name="Google Shape;147;p21"/>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8" name="Google Shape;148;p21"/>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49" name="Google Shape;149;p21"/>
          <p:cNvSpPr/>
          <p:nvPr/>
        </p:nvSpPr>
        <p:spPr>
          <a:xfrm>
            <a:off x="228600" y="1508670"/>
            <a:ext cx="8686800"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p21"/>
          <p:cNvSpPr/>
          <p:nvPr/>
        </p:nvSpPr>
        <p:spPr>
          <a:xfrm>
            <a:off x="2286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1" name="Google Shape;151;p21"/>
          <p:cNvSpPr txBox="1"/>
          <p:nvPr/>
        </p:nvSpPr>
        <p:spPr>
          <a:xfrm>
            <a:off x="228600" y="1508670"/>
            <a:ext cx="4191000" cy="1849800"/>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Definition:</a:t>
            </a:r>
            <a:r>
              <a:rPr b="0" i="0" lang="en-US" sz="1300" u="none" cap="none" strike="noStrike">
                <a:solidFill>
                  <a:srgbClr val="616161"/>
                </a:solidFill>
                <a:latin typeface="Proxima Nova"/>
                <a:ea typeface="Proxima Nova"/>
                <a:cs typeface="Proxima Nova"/>
                <a:sym typeface="Proxima Nova"/>
              </a:rPr>
              <a:t> </a:t>
            </a:r>
            <a:r>
              <a:rPr lang="en-US" sz="1300">
                <a:solidFill>
                  <a:srgbClr val="616161"/>
                </a:solidFill>
                <a:latin typeface="Proxima Nova"/>
                <a:ea typeface="Proxima Nova"/>
                <a:cs typeface="Proxima Nova"/>
                <a:sym typeface="Proxima Nova"/>
              </a:rPr>
              <a:t>Neural networks are a class of machine learning models inspired by the structure and function of the human brain. They have gained immense popularity due to their ability to learn complex patterns and relationships in data.</a:t>
            </a:r>
            <a:endParaRPr sz="1300">
              <a:solidFill>
                <a:srgbClr val="616161"/>
              </a:solidFill>
              <a:latin typeface="Proxima Nova"/>
              <a:ea typeface="Proxima Nova"/>
              <a:cs typeface="Proxima Nova"/>
              <a:sym typeface="Proxima Nova"/>
            </a:endParaRPr>
          </a:p>
          <a:p>
            <a:pPr indent="0" lvl="0" marL="457200" marR="0" rtl="0" algn="l">
              <a:lnSpc>
                <a:spcPct val="100000"/>
              </a:lnSpc>
              <a:spcBef>
                <a:spcPts val="0"/>
              </a:spcBef>
              <a:spcAft>
                <a:spcPts val="0"/>
              </a:spcAft>
              <a:buNone/>
            </a:pPr>
            <a:r>
              <a:t/>
            </a:r>
            <a:endParaRPr sz="1300">
              <a:solidFill>
                <a:srgbClr val="616161"/>
              </a:solidFill>
              <a:latin typeface="Proxima Nova"/>
              <a:ea typeface="Proxima Nova"/>
              <a:cs typeface="Proxima Nova"/>
              <a:sym typeface="Proxima Nova"/>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Application:</a:t>
            </a:r>
            <a:r>
              <a:rPr b="0" i="0" lang="en-US" sz="1300" u="none" cap="none" strike="noStrike">
                <a:solidFill>
                  <a:srgbClr val="616161"/>
                </a:solidFill>
                <a:latin typeface="Proxima Nova"/>
                <a:ea typeface="Proxima Nova"/>
                <a:cs typeface="Proxima Nova"/>
                <a:sym typeface="Proxima Nova"/>
              </a:rPr>
              <a:t> Example - Handwriting recognition.</a:t>
            </a:r>
            <a:endParaRPr/>
          </a:p>
        </p:txBody>
      </p:sp>
      <p:sp>
        <p:nvSpPr>
          <p:cNvPr id="152" name="Google Shape;152;p21"/>
          <p:cNvSpPr/>
          <p:nvPr/>
        </p:nvSpPr>
        <p:spPr>
          <a:xfrm>
            <a:off x="47244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3" name="Google Shape;153;p21"/>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4" name="Google Shape;154;p21"/>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55" name="Google Shape;155;p21"/>
          <p:cNvPicPr preferRelativeResize="0"/>
          <p:nvPr/>
        </p:nvPicPr>
        <p:blipFill>
          <a:blip r:embed="rId3">
            <a:alphaModFix/>
          </a:blip>
          <a:stretch>
            <a:fillRect/>
          </a:stretch>
        </p:blipFill>
        <p:spPr>
          <a:xfrm>
            <a:off x="4572000" y="973888"/>
            <a:ext cx="4300626" cy="27093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Example: Predicting House Prices</a:t>
            </a:r>
            <a:endParaRPr/>
          </a:p>
        </p:txBody>
      </p:sp>
      <p:sp>
        <p:nvSpPr>
          <p:cNvPr id="161" name="Google Shape;161;p22"/>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2" name="Google Shape;162;p22"/>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63" name="Google Shape;163;p22"/>
          <p:cNvSpPr/>
          <p:nvPr/>
        </p:nvSpPr>
        <p:spPr>
          <a:xfrm>
            <a:off x="228600" y="1508670"/>
            <a:ext cx="8686800"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p22"/>
          <p:cNvSpPr/>
          <p:nvPr/>
        </p:nvSpPr>
        <p:spPr>
          <a:xfrm>
            <a:off x="2286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5" name="Google Shape;165;p22"/>
          <p:cNvSpPr txBox="1"/>
          <p:nvPr/>
        </p:nvSpPr>
        <p:spPr>
          <a:xfrm>
            <a:off x="228600" y="1508670"/>
            <a:ext cx="4190999" cy="1729382"/>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Dataset:</a:t>
            </a:r>
            <a:r>
              <a:rPr b="0" i="0" lang="en-US" sz="1300" u="none" cap="none" strike="noStrike">
                <a:solidFill>
                  <a:srgbClr val="616161"/>
                </a:solidFill>
                <a:latin typeface="Proxima Nova"/>
                <a:ea typeface="Proxima Nova"/>
                <a:cs typeface="Proxima Nova"/>
                <a:sym typeface="Proxima Nova"/>
              </a:rPr>
              <a:t> Description of features like size, number of bedrooms, location, etc.</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Algorithm:</a:t>
            </a:r>
            <a:r>
              <a:rPr b="0" i="0" lang="en-US" sz="1300" u="none" cap="none" strike="noStrike">
                <a:solidFill>
                  <a:srgbClr val="616161"/>
                </a:solidFill>
                <a:latin typeface="Proxima Nova"/>
                <a:ea typeface="Proxima Nova"/>
                <a:cs typeface="Proxima Nova"/>
                <a:sym typeface="Proxima Nova"/>
              </a:rPr>
              <a:t> Linear regression used to predict house prices.</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Outcome:</a:t>
            </a:r>
            <a:r>
              <a:rPr b="0" i="0" lang="en-US" sz="1300" u="none" cap="none" strike="noStrike">
                <a:solidFill>
                  <a:srgbClr val="616161"/>
                </a:solidFill>
                <a:latin typeface="Proxima Nova"/>
                <a:ea typeface="Proxima Nova"/>
                <a:cs typeface="Proxima Nova"/>
                <a:sym typeface="Proxima Nova"/>
              </a:rPr>
              <a:t> The model predicts prices with a certain accuracy.</a:t>
            </a:r>
            <a:endParaRPr/>
          </a:p>
        </p:txBody>
      </p:sp>
      <p:sp>
        <p:nvSpPr>
          <p:cNvPr id="166" name="Google Shape;166;p22"/>
          <p:cNvSpPr/>
          <p:nvPr/>
        </p:nvSpPr>
        <p:spPr>
          <a:xfrm>
            <a:off x="47244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7" name="Google Shape;167;p22"/>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tmpt_51tb8p.png" id="168" name="Google Shape;168;p22"/>
          <p:cNvPicPr preferRelativeResize="0"/>
          <p:nvPr/>
        </p:nvPicPr>
        <p:blipFill rotWithShape="1">
          <a:blip r:embed="rId3">
            <a:alphaModFix/>
          </a:blip>
          <a:srcRect b="0" l="0" r="0" t="0"/>
          <a:stretch/>
        </p:blipFill>
        <p:spPr>
          <a:xfrm>
            <a:off x="4724400" y="1508670"/>
            <a:ext cx="4190999" cy="2359372"/>
          </a:xfrm>
          <a:prstGeom prst="rect">
            <a:avLst/>
          </a:prstGeom>
          <a:noFill/>
          <a:ln>
            <a:noFill/>
          </a:ln>
        </p:spPr>
      </p:pic>
      <p:sp>
        <p:nvSpPr>
          <p:cNvPr id="169" name="Google Shape;169;p22"/>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63D297"/>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